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753600" cy="7315200"/>
  <p:notesSz cx="9753600" cy="73152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C60595B-F31B-4C3C-9DA0-0123144512E7}" v="109" dt="2025-10-12T12:53:29.873"/>
    <p1510:client id="{ED09C369-554D-4137-ABC1-8DC00DA8D527}" v="3" dt="2025-10-12T12:55:46.890"/>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880"/>
        <p:guide pos="216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31520" y="2267712"/>
            <a:ext cx="8290560" cy="1536192"/>
          </a:xfrm>
          <a:prstGeom prst="rect">
            <a:avLst/>
          </a:prstGeom>
        </p:spPr>
        <p:txBody>
          <a:bodyPr wrap="square" lIns="0" tIns="0" rIns="0" bIns="0">
            <a:spAutoFit/>
          </a:bodyPr>
          <a:lstStyle>
            <a:lvl1pPr>
              <a:defRPr sz="3050" b="1" i="0">
                <a:solidFill>
                  <a:srgbClr val="001F5F"/>
                </a:solidFill>
                <a:latin typeface="Times New Roman"/>
                <a:cs typeface="Times New Roman"/>
              </a:defRPr>
            </a:lvl1pPr>
          </a:lstStyle>
          <a:p>
            <a:endParaRPr/>
          </a:p>
        </p:txBody>
      </p:sp>
      <p:sp>
        <p:nvSpPr>
          <p:cNvPr id="3" name="Holder 3"/>
          <p:cNvSpPr>
            <a:spLocks noGrp="1"/>
          </p:cNvSpPr>
          <p:nvPr>
            <p:ph type="subTitle" idx="4"/>
          </p:nvPr>
        </p:nvSpPr>
        <p:spPr>
          <a:xfrm>
            <a:off x="1463040" y="4096512"/>
            <a:ext cx="6827520" cy="1828800"/>
          </a:xfrm>
          <a:prstGeom prst="rect">
            <a:avLst/>
          </a:prstGeom>
        </p:spPr>
        <p:txBody>
          <a:bodyPr wrap="square" lIns="0" tIns="0" rIns="0" bIns="0">
            <a:spAutoFit/>
          </a:bodyPr>
          <a:lstStyle>
            <a:lvl1pPr>
              <a:defRPr sz="1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250" b="0" i="0">
                <a:solidFill>
                  <a:srgbClr val="888888"/>
                </a:solidFill>
                <a:latin typeface="Calibri"/>
                <a:cs typeface="Calibri"/>
              </a:defRPr>
            </a:lvl1pPr>
          </a:lstStyle>
          <a:p>
            <a:pPr marL="12700">
              <a:lnSpc>
                <a:spcPts val="1285"/>
              </a:lnSpc>
            </a:pPr>
            <a:r>
              <a:t>MKCE</a:t>
            </a:r>
            <a:r>
              <a:rPr spc="-10"/>
              <a:t> </a:t>
            </a:r>
            <a:r>
              <a:t>Presentation</a:t>
            </a:r>
            <a:r>
              <a:rPr spc="55"/>
              <a:t> </a:t>
            </a:r>
            <a:r>
              <a:t>Day</a:t>
            </a:r>
            <a:r>
              <a:rPr spc="-15"/>
              <a:t> </a:t>
            </a:r>
            <a:r>
              <a:rPr spc="-10"/>
              <a:t>-</a:t>
            </a:r>
            <a:r>
              <a:rPr spc="-50"/>
              <a:t>I</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10/12/2025</a:t>
            </a:fld>
            <a:endParaRPr lang="en-US"/>
          </a:p>
        </p:txBody>
      </p:sp>
      <p:sp>
        <p:nvSpPr>
          <p:cNvPr id="6" name="Holder 6"/>
          <p:cNvSpPr>
            <a:spLocks noGrp="1"/>
          </p:cNvSpPr>
          <p:nvPr>
            <p:ph type="sldNum" sz="quarter" idx="7"/>
          </p:nvPr>
        </p:nvSpPr>
        <p:spPr/>
        <p:txBody>
          <a:bodyPr lIns="0" tIns="0" rIns="0" bIns="0"/>
          <a:lstStyle>
            <a:lvl1pPr>
              <a:defRPr sz="1250" b="0" i="0">
                <a:solidFill>
                  <a:srgbClr val="888888"/>
                </a:solidFill>
                <a:latin typeface="Calibri"/>
                <a:cs typeface="Calibri"/>
              </a:defRPr>
            </a:lvl1pPr>
          </a:lstStyle>
          <a:p>
            <a:pPr marL="38100">
              <a:lnSpc>
                <a:spcPts val="1285"/>
              </a:lnSpc>
            </a:pPr>
            <a:fld id="{81D60167-4931-47E6-BA6A-407CBD079E47}" type="slidenum">
              <a:rPr spc="-25" dirty="0"/>
              <a:t>‹#›</a:t>
            </a:fld>
            <a:endParaRPr spc="-25"/>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050" b="1" i="0">
                <a:solidFill>
                  <a:srgbClr val="001F5F"/>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1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250" b="0" i="0">
                <a:solidFill>
                  <a:srgbClr val="888888"/>
                </a:solidFill>
                <a:latin typeface="Calibri"/>
                <a:cs typeface="Calibri"/>
              </a:defRPr>
            </a:lvl1pPr>
          </a:lstStyle>
          <a:p>
            <a:pPr marL="12700">
              <a:lnSpc>
                <a:spcPts val="1285"/>
              </a:lnSpc>
            </a:pPr>
            <a:r>
              <a:t>MKCE</a:t>
            </a:r>
            <a:r>
              <a:rPr spc="-10"/>
              <a:t> </a:t>
            </a:r>
            <a:r>
              <a:t>Presentation</a:t>
            </a:r>
            <a:r>
              <a:rPr spc="55"/>
              <a:t> </a:t>
            </a:r>
            <a:r>
              <a:t>Day</a:t>
            </a:r>
            <a:r>
              <a:rPr spc="-15"/>
              <a:t> </a:t>
            </a:r>
            <a:r>
              <a:rPr spc="-10"/>
              <a:t>-</a:t>
            </a:r>
            <a:r>
              <a:rPr spc="-50"/>
              <a:t>I</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10/12/2025</a:t>
            </a:fld>
            <a:endParaRPr lang="en-US"/>
          </a:p>
        </p:txBody>
      </p:sp>
      <p:sp>
        <p:nvSpPr>
          <p:cNvPr id="6" name="Holder 6"/>
          <p:cNvSpPr>
            <a:spLocks noGrp="1"/>
          </p:cNvSpPr>
          <p:nvPr>
            <p:ph type="sldNum" sz="quarter" idx="7"/>
          </p:nvPr>
        </p:nvSpPr>
        <p:spPr/>
        <p:txBody>
          <a:bodyPr lIns="0" tIns="0" rIns="0" bIns="0"/>
          <a:lstStyle>
            <a:lvl1pPr>
              <a:defRPr sz="1250" b="0" i="0">
                <a:solidFill>
                  <a:srgbClr val="888888"/>
                </a:solidFill>
                <a:latin typeface="Calibri"/>
                <a:cs typeface="Calibri"/>
              </a:defRPr>
            </a:lvl1pPr>
          </a:lstStyle>
          <a:p>
            <a:pPr marL="38100">
              <a:lnSpc>
                <a:spcPts val="1285"/>
              </a:lnSpc>
            </a:pPr>
            <a:fld id="{81D60167-4931-47E6-BA6A-407CBD079E47}" type="slidenum">
              <a:rPr spc="-25" dirty="0"/>
              <a:t>‹#›</a:t>
            </a:fld>
            <a:endParaRPr spc="-25"/>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050" b="1" i="0">
                <a:solidFill>
                  <a:srgbClr val="001F5F"/>
                </a:solidFill>
                <a:latin typeface="Times New Roman"/>
                <a:cs typeface="Times New Roman"/>
              </a:defRPr>
            </a:lvl1pPr>
          </a:lstStyle>
          <a:p>
            <a:endParaRPr/>
          </a:p>
        </p:txBody>
      </p:sp>
      <p:sp>
        <p:nvSpPr>
          <p:cNvPr id="3" name="Holder 3"/>
          <p:cNvSpPr>
            <a:spLocks noGrp="1"/>
          </p:cNvSpPr>
          <p:nvPr>
            <p:ph sz="half" idx="2"/>
          </p:nvPr>
        </p:nvSpPr>
        <p:spPr>
          <a:xfrm>
            <a:off x="487680" y="1682496"/>
            <a:ext cx="4242816" cy="4828032"/>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023104" y="1682496"/>
            <a:ext cx="4242816" cy="4828032"/>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250" b="0" i="0">
                <a:solidFill>
                  <a:srgbClr val="888888"/>
                </a:solidFill>
                <a:latin typeface="Calibri"/>
                <a:cs typeface="Calibri"/>
              </a:defRPr>
            </a:lvl1pPr>
          </a:lstStyle>
          <a:p>
            <a:pPr marL="12700">
              <a:lnSpc>
                <a:spcPts val="1285"/>
              </a:lnSpc>
            </a:pPr>
            <a:r>
              <a:t>MKCE</a:t>
            </a:r>
            <a:r>
              <a:rPr spc="-10"/>
              <a:t> </a:t>
            </a:r>
            <a:r>
              <a:t>Presentation</a:t>
            </a:r>
            <a:r>
              <a:rPr spc="55"/>
              <a:t> </a:t>
            </a:r>
            <a:r>
              <a:t>Day</a:t>
            </a:r>
            <a:r>
              <a:rPr spc="-15"/>
              <a:t> </a:t>
            </a:r>
            <a:r>
              <a:rPr spc="-10"/>
              <a:t>-</a:t>
            </a:r>
            <a:r>
              <a:rPr spc="-50"/>
              <a:t>I</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10/12/2025</a:t>
            </a:fld>
            <a:endParaRPr lang="en-US"/>
          </a:p>
        </p:txBody>
      </p:sp>
      <p:sp>
        <p:nvSpPr>
          <p:cNvPr id="7" name="Holder 7"/>
          <p:cNvSpPr>
            <a:spLocks noGrp="1"/>
          </p:cNvSpPr>
          <p:nvPr>
            <p:ph type="sldNum" sz="quarter" idx="7"/>
          </p:nvPr>
        </p:nvSpPr>
        <p:spPr/>
        <p:txBody>
          <a:bodyPr lIns="0" tIns="0" rIns="0" bIns="0"/>
          <a:lstStyle>
            <a:lvl1pPr>
              <a:defRPr sz="1250" b="0" i="0">
                <a:solidFill>
                  <a:srgbClr val="888888"/>
                </a:solidFill>
                <a:latin typeface="Calibri"/>
                <a:cs typeface="Calibri"/>
              </a:defRPr>
            </a:lvl1pPr>
          </a:lstStyle>
          <a:p>
            <a:pPr marL="38100">
              <a:lnSpc>
                <a:spcPts val="1285"/>
              </a:lnSpc>
            </a:pPr>
            <a:fld id="{81D60167-4931-47E6-BA6A-407CBD079E47}" type="slidenum">
              <a:rPr spc="-25" dirty="0"/>
              <a:t>‹#›</a:t>
            </a:fld>
            <a:endParaRPr spc="-25"/>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050" b="1" i="0">
                <a:solidFill>
                  <a:srgbClr val="001F5F"/>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defRPr sz="1250" b="0" i="0">
                <a:solidFill>
                  <a:srgbClr val="888888"/>
                </a:solidFill>
                <a:latin typeface="Calibri"/>
                <a:cs typeface="Calibri"/>
              </a:defRPr>
            </a:lvl1pPr>
          </a:lstStyle>
          <a:p>
            <a:pPr marL="12700">
              <a:lnSpc>
                <a:spcPts val="1285"/>
              </a:lnSpc>
            </a:pPr>
            <a:r>
              <a:t>MKCE</a:t>
            </a:r>
            <a:r>
              <a:rPr spc="-10"/>
              <a:t> </a:t>
            </a:r>
            <a:r>
              <a:t>Presentation</a:t>
            </a:r>
            <a:r>
              <a:rPr spc="55"/>
              <a:t> </a:t>
            </a:r>
            <a:r>
              <a:t>Day</a:t>
            </a:r>
            <a:r>
              <a:rPr spc="-15"/>
              <a:t> </a:t>
            </a:r>
            <a:r>
              <a:rPr spc="-10"/>
              <a:t>-</a:t>
            </a:r>
            <a:r>
              <a:rPr spc="-50"/>
              <a:t>I</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10/12/2025</a:t>
            </a:fld>
            <a:endParaRPr lang="en-US"/>
          </a:p>
        </p:txBody>
      </p:sp>
      <p:sp>
        <p:nvSpPr>
          <p:cNvPr id="5" name="Holder 5"/>
          <p:cNvSpPr>
            <a:spLocks noGrp="1"/>
          </p:cNvSpPr>
          <p:nvPr>
            <p:ph type="sldNum" sz="quarter" idx="7"/>
          </p:nvPr>
        </p:nvSpPr>
        <p:spPr/>
        <p:txBody>
          <a:bodyPr lIns="0" tIns="0" rIns="0" bIns="0"/>
          <a:lstStyle>
            <a:lvl1pPr>
              <a:defRPr sz="1250" b="0" i="0">
                <a:solidFill>
                  <a:srgbClr val="888888"/>
                </a:solidFill>
                <a:latin typeface="Calibri"/>
                <a:cs typeface="Calibri"/>
              </a:defRPr>
            </a:lvl1pPr>
          </a:lstStyle>
          <a:p>
            <a:pPr marL="38100">
              <a:lnSpc>
                <a:spcPts val="1285"/>
              </a:lnSpc>
            </a:pPr>
            <a:fld id="{81D60167-4931-47E6-BA6A-407CBD079E47}" type="slidenum">
              <a:rPr spc="-25" dirty="0"/>
              <a:t>‹#›</a:t>
            </a:fld>
            <a:endParaRPr spc="-25"/>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250" b="0" i="0">
                <a:solidFill>
                  <a:srgbClr val="888888"/>
                </a:solidFill>
                <a:latin typeface="Calibri"/>
                <a:cs typeface="Calibri"/>
              </a:defRPr>
            </a:lvl1pPr>
          </a:lstStyle>
          <a:p>
            <a:pPr marL="12700">
              <a:lnSpc>
                <a:spcPts val="1285"/>
              </a:lnSpc>
            </a:pPr>
            <a:r>
              <a:t>MKCE</a:t>
            </a:r>
            <a:r>
              <a:rPr spc="-10"/>
              <a:t> </a:t>
            </a:r>
            <a:r>
              <a:t>Presentation</a:t>
            </a:r>
            <a:r>
              <a:rPr spc="55"/>
              <a:t> </a:t>
            </a:r>
            <a:r>
              <a:t>Day</a:t>
            </a:r>
            <a:r>
              <a:rPr spc="-15"/>
              <a:t> </a:t>
            </a:r>
            <a:r>
              <a:rPr spc="-10"/>
              <a:t>-</a:t>
            </a:r>
            <a:r>
              <a:rPr spc="-50"/>
              <a:t>I</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10/12/2025</a:t>
            </a:fld>
            <a:endParaRPr lang="en-US"/>
          </a:p>
        </p:txBody>
      </p:sp>
      <p:sp>
        <p:nvSpPr>
          <p:cNvPr id="4" name="Holder 4"/>
          <p:cNvSpPr>
            <a:spLocks noGrp="1"/>
          </p:cNvSpPr>
          <p:nvPr>
            <p:ph type="sldNum" sz="quarter" idx="7"/>
          </p:nvPr>
        </p:nvSpPr>
        <p:spPr/>
        <p:txBody>
          <a:bodyPr lIns="0" tIns="0" rIns="0" bIns="0"/>
          <a:lstStyle>
            <a:lvl1pPr>
              <a:defRPr sz="1250" b="0" i="0">
                <a:solidFill>
                  <a:srgbClr val="888888"/>
                </a:solidFill>
                <a:latin typeface="Calibri"/>
                <a:cs typeface="Calibri"/>
              </a:defRPr>
            </a:lvl1pPr>
          </a:lstStyle>
          <a:p>
            <a:pPr marL="38100">
              <a:lnSpc>
                <a:spcPts val="1285"/>
              </a:lnSpc>
            </a:pPr>
            <a:fld id="{81D60167-4931-47E6-BA6A-407CBD079E47}" type="slidenum">
              <a:rPr spc="-25" dirty="0"/>
              <a:t>‹#›</a:t>
            </a:fld>
            <a:endParaRPr spc="-25"/>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879144" y="-4749"/>
            <a:ext cx="7680782" cy="1004112"/>
          </a:xfrm>
          <a:prstGeom prst="rect">
            <a:avLst/>
          </a:prstGeom>
        </p:spPr>
        <p:txBody>
          <a:bodyPr wrap="square" lIns="0" tIns="0" rIns="0" bIns="0">
            <a:spAutoFit/>
          </a:bodyPr>
          <a:lstStyle>
            <a:lvl1pPr>
              <a:defRPr sz="3050" b="1" i="0">
                <a:solidFill>
                  <a:srgbClr val="001F5F"/>
                </a:solidFill>
                <a:latin typeface="Times New Roman"/>
                <a:cs typeface="Times New Roman"/>
              </a:defRPr>
            </a:lvl1pPr>
          </a:lstStyle>
          <a:p>
            <a:endParaRPr/>
          </a:p>
        </p:txBody>
      </p:sp>
      <p:sp>
        <p:nvSpPr>
          <p:cNvPr id="3" name="Holder 3"/>
          <p:cNvSpPr>
            <a:spLocks noGrp="1"/>
          </p:cNvSpPr>
          <p:nvPr>
            <p:ph type="body" idx="1"/>
          </p:nvPr>
        </p:nvSpPr>
        <p:spPr>
          <a:xfrm>
            <a:off x="472541" y="1308354"/>
            <a:ext cx="8724874" cy="4906517"/>
          </a:xfrm>
          <a:prstGeom prst="rect">
            <a:avLst/>
          </a:prstGeom>
        </p:spPr>
        <p:txBody>
          <a:bodyPr wrap="square" lIns="0" tIns="0" rIns="0" bIns="0">
            <a:spAutoFit/>
          </a:bodyPr>
          <a:lstStyle>
            <a:lvl1pPr>
              <a:defRPr sz="1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4021582" y="6861149"/>
            <a:ext cx="1694179" cy="184150"/>
          </a:xfrm>
          <a:prstGeom prst="rect">
            <a:avLst/>
          </a:prstGeom>
        </p:spPr>
        <p:txBody>
          <a:bodyPr wrap="square" lIns="0" tIns="0" rIns="0" bIns="0">
            <a:spAutoFit/>
          </a:bodyPr>
          <a:lstStyle>
            <a:lvl1pPr>
              <a:defRPr sz="1250" b="0" i="0">
                <a:solidFill>
                  <a:srgbClr val="888888"/>
                </a:solidFill>
                <a:latin typeface="Calibri"/>
                <a:cs typeface="Calibri"/>
              </a:defRPr>
            </a:lvl1pPr>
          </a:lstStyle>
          <a:p>
            <a:pPr marL="12700">
              <a:lnSpc>
                <a:spcPts val="1285"/>
              </a:lnSpc>
            </a:pPr>
            <a:r>
              <a:t>MKCE</a:t>
            </a:r>
            <a:r>
              <a:rPr spc="-10"/>
              <a:t> </a:t>
            </a:r>
            <a:r>
              <a:t>Presentation</a:t>
            </a:r>
            <a:r>
              <a:rPr spc="55"/>
              <a:t> </a:t>
            </a:r>
            <a:r>
              <a:t>Day</a:t>
            </a:r>
            <a:r>
              <a:rPr spc="-15"/>
              <a:t> </a:t>
            </a:r>
            <a:r>
              <a:rPr spc="-10"/>
              <a:t>-</a:t>
            </a:r>
            <a:r>
              <a:rPr spc="-50"/>
              <a:t>I</a:t>
            </a:r>
          </a:p>
        </p:txBody>
      </p:sp>
      <p:sp>
        <p:nvSpPr>
          <p:cNvPr id="5" name="Holder 5"/>
          <p:cNvSpPr>
            <a:spLocks noGrp="1"/>
          </p:cNvSpPr>
          <p:nvPr>
            <p:ph type="dt" sz="half" idx="6"/>
          </p:nvPr>
        </p:nvSpPr>
        <p:spPr>
          <a:xfrm>
            <a:off x="487680" y="6803136"/>
            <a:ext cx="2243328" cy="36576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10/12/2025</a:t>
            </a:fld>
            <a:endParaRPr lang="en-US"/>
          </a:p>
        </p:txBody>
      </p:sp>
      <p:sp>
        <p:nvSpPr>
          <p:cNvPr id="6" name="Holder 6"/>
          <p:cNvSpPr>
            <a:spLocks noGrp="1"/>
          </p:cNvSpPr>
          <p:nvPr>
            <p:ph type="sldNum" sz="quarter" idx="7"/>
          </p:nvPr>
        </p:nvSpPr>
        <p:spPr>
          <a:xfrm>
            <a:off x="9065641" y="6861149"/>
            <a:ext cx="203834" cy="184150"/>
          </a:xfrm>
          <a:prstGeom prst="rect">
            <a:avLst/>
          </a:prstGeom>
        </p:spPr>
        <p:txBody>
          <a:bodyPr wrap="square" lIns="0" tIns="0" rIns="0" bIns="0">
            <a:spAutoFit/>
          </a:bodyPr>
          <a:lstStyle>
            <a:lvl1pPr>
              <a:defRPr sz="1250" b="0" i="0">
                <a:solidFill>
                  <a:srgbClr val="888888"/>
                </a:solidFill>
                <a:latin typeface="Calibri"/>
                <a:cs typeface="Calibri"/>
              </a:defRPr>
            </a:lvl1pPr>
          </a:lstStyle>
          <a:p>
            <a:pPr marL="38100">
              <a:lnSpc>
                <a:spcPts val="1285"/>
              </a:lnSpc>
            </a:pPr>
            <a:fld id="{81D60167-4931-47E6-BA6A-407CBD079E47}" type="slidenum">
              <a:rPr spc="-25" dirty="0"/>
              <a:t>‹#›</a:t>
            </a:fld>
            <a:endParaRPr spc="-25"/>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204208" y="2355849"/>
            <a:ext cx="1333500" cy="314960"/>
          </a:xfrm>
          <a:prstGeom prst="rect">
            <a:avLst/>
          </a:prstGeom>
        </p:spPr>
        <p:txBody>
          <a:bodyPr vert="horz" wrap="square" lIns="0" tIns="12065" rIns="0" bIns="0" rtlCol="0">
            <a:spAutoFit/>
          </a:bodyPr>
          <a:lstStyle/>
          <a:p>
            <a:pPr marL="12700">
              <a:lnSpc>
                <a:spcPct val="100000"/>
              </a:lnSpc>
              <a:spcBef>
                <a:spcPts val="95"/>
              </a:spcBef>
            </a:pPr>
            <a:r>
              <a:rPr sz="1900">
                <a:latin typeface="Times New Roman"/>
                <a:cs typeface="Times New Roman"/>
              </a:rPr>
              <a:t>Presented</a:t>
            </a:r>
            <a:r>
              <a:rPr sz="1900" spc="415">
                <a:latin typeface="Times New Roman"/>
                <a:cs typeface="Times New Roman"/>
              </a:rPr>
              <a:t> </a:t>
            </a:r>
            <a:r>
              <a:rPr sz="1900" spc="-25">
                <a:latin typeface="Times New Roman"/>
                <a:cs typeface="Times New Roman"/>
              </a:rPr>
              <a:t>by</a:t>
            </a:r>
            <a:endParaRPr sz="1900">
              <a:latin typeface="Times New Roman"/>
              <a:cs typeface="Times New Roman"/>
            </a:endParaRPr>
          </a:p>
        </p:txBody>
      </p:sp>
      <p:sp>
        <p:nvSpPr>
          <p:cNvPr id="3" name="object 3"/>
          <p:cNvSpPr txBox="1"/>
          <p:nvPr/>
        </p:nvSpPr>
        <p:spPr>
          <a:xfrm>
            <a:off x="1636902" y="2906283"/>
            <a:ext cx="2414270" cy="941069"/>
          </a:xfrm>
          <a:prstGeom prst="rect">
            <a:avLst/>
          </a:prstGeom>
        </p:spPr>
        <p:txBody>
          <a:bodyPr vert="horz" wrap="square" lIns="0" tIns="28575" rIns="0" bIns="0" rtlCol="0">
            <a:spAutoFit/>
          </a:bodyPr>
          <a:lstStyle/>
          <a:p>
            <a:pPr marL="12700">
              <a:lnSpc>
                <a:spcPct val="100000"/>
              </a:lnSpc>
              <a:spcBef>
                <a:spcPts val="225"/>
              </a:spcBef>
            </a:pPr>
            <a:r>
              <a:rPr sz="1900" spc="90">
                <a:latin typeface="Times New Roman"/>
                <a:cs typeface="Times New Roman"/>
              </a:rPr>
              <a:t>JAGADEESH</a:t>
            </a:r>
            <a:r>
              <a:rPr sz="1900" spc="285">
                <a:latin typeface="Times New Roman"/>
                <a:cs typeface="Times New Roman"/>
              </a:rPr>
              <a:t> </a:t>
            </a:r>
            <a:r>
              <a:rPr sz="1900" spc="-50">
                <a:latin typeface="Times New Roman"/>
                <a:cs typeface="Times New Roman"/>
              </a:rPr>
              <a:t>K</a:t>
            </a:r>
            <a:endParaRPr sz="1900">
              <a:latin typeface="Times New Roman"/>
              <a:cs typeface="Times New Roman"/>
            </a:endParaRPr>
          </a:p>
          <a:p>
            <a:pPr marL="12700">
              <a:lnSpc>
                <a:spcPct val="100000"/>
              </a:lnSpc>
              <a:spcBef>
                <a:spcPts val="120"/>
              </a:spcBef>
            </a:pPr>
            <a:r>
              <a:rPr sz="1900">
                <a:latin typeface="Times New Roman"/>
                <a:cs typeface="Times New Roman"/>
              </a:rPr>
              <a:t>JAI</a:t>
            </a:r>
            <a:r>
              <a:rPr sz="1900" spc="254">
                <a:latin typeface="Times New Roman"/>
                <a:cs typeface="Times New Roman"/>
              </a:rPr>
              <a:t> </a:t>
            </a:r>
            <a:r>
              <a:rPr sz="1900" spc="45">
                <a:latin typeface="Times New Roman"/>
                <a:cs typeface="Times New Roman"/>
              </a:rPr>
              <a:t>NARENDIRAN</a:t>
            </a:r>
            <a:r>
              <a:rPr sz="1900" spc="345">
                <a:latin typeface="Times New Roman"/>
                <a:cs typeface="Times New Roman"/>
              </a:rPr>
              <a:t> </a:t>
            </a:r>
            <a:r>
              <a:rPr sz="1900" spc="-50">
                <a:latin typeface="Times New Roman"/>
                <a:cs typeface="Times New Roman"/>
              </a:rPr>
              <a:t>G</a:t>
            </a:r>
            <a:endParaRPr sz="1900">
              <a:latin typeface="Times New Roman"/>
              <a:cs typeface="Times New Roman"/>
            </a:endParaRPr>
          </a:p>
          <a:p>
            <a:pPr marL="12700">
              <a:lnSpc>
                <a:spcPct val="100000"/>
              </a:lnSpc>
              <a:spcBef>
                <a:spcPts val="120"/>
              </a:spcBef>
            </a:pPr>
            <a:r>
              <a:rPr sz="1900" spc="-10">
                <a:latin typeface="Times New Roman"/>
                <a:cs typeface="Times New Roman"/>
              </a:rPr>
              <a:t>KAMALESH</a:t>
            </a:r>
            <a:r>
              <a:rPr sz="1900" spc="-95">
                <a:latin typeface="Times New Roman"/>
                <a:cs typeface="Times New Roman"/>
              </a:rPr>
              <a:t> </a:t>
            </a:r>
            <a:r>
              <a:rPr sz="1900" spc="-50">
                <a:latin typeface="Times New Roman"/>
                <a:cs typeface="Times New Roman"/>
              </a:rPr>
              <a:t>M</a:t>
            </a:r>
            <a:endParaRPr sz="1900">
              <a:latin typeface="Times New Roman"/>
              <a:cs typeface="Times New Roman"/>
            </a:endParaRPr>
          </a:p>
        </p:txBody>
      </p:sp>
      <p:sp>
        <p:nvSpPr>
          <p:cNvPr id="4" name="object 4"/>
          <p:cNvSpPr txBox="1"/>
          <p:nvPr/>
        </p:nvSpPr>
        <p:spPr>
          <a:xfrm>
            <a:off x="4245769" y="2906283"/>
            <a:ext cx="1809750" cy="941069"/>
          </a:xfrm>
          <a:prstGeom prst="rect">
            <a:avLst/>
          </a:prstGeom>
        </p:spPr>
        <p:txBody>
          <a:bodyPr vert="horz" wrap="square" lIns="0" tIns="13335" rIns="0" bIns="0" rtlCol="0">
            <a:spAutoFit/>
          </a:bodyPr>
          <a:lstStyle/>
          <a:p>
            <a:pPr marL="12700" marR="5080" indent="22225" algn="just">
              <a:lnSpc>
                <a:spcPct val="105300"/>
              </a:lnSpc>
              <a:spcBef>
                <a:spcPts val="105"/>
              </a:spcBef>
            </a:pPr>
            <a:r>
              <a:rPr sz="1900" spc="-10">
                <a:latin typeface="Times New Roman"/>
                <a:cs typeface="Times New Roman"/>
              </a:rPr>
              <a:t>(927623BME032) (927623BME033) (927623BME036)</a:t>
            </a:r>
            <a:endParaRPr sz="1900">
              <a:latin typeface="Times New Roman"/>
              <a:cs typeface="Times New Roman"/>
            </a:endParaRPr>
          </a:p>
        </p:txBody>
      </p:sp>
      <p:sp>
        <p:nvSpPr>
          <p:cNvPr id="5" name="object 5"/>
          <p:cNvSpPr txBox="1"/>
          <p:nvPr/>
        </p:nvSpPr>
        <p:spPr>
          <a:xfrm>
            <a:off x="2252598" y="4117924"/>
            <a:ext cx="5404485" cy="2229485"/>
          </a:xfrm>
          <a:prstGeom prst="rect">
            <a:avLst/>
          </a:prstGeom>
        </p:spPr>
        <p:txBody>
          <a:bodyPr vert="horz" wrap="square" lIns="0" tIns="12065" rIns="0" bIns="0" rtlCol="0">
            <a:spAutoFit/>
          </a:bodyPr>
          <a:lstStyle/>
          <a:p>
            <a:pPr marR="5080" algn="ctr">
              <a:lnSpc>
                <a:spcPct val="100000"/>
              </a:lnSpc>
              <a:spcBef>
                <a:spcPts val="95"/>
              </a:spcBef>
            </a:pPr>
            <a:r>
              <a:rPr sz="1900" spc="75">
                <a:latin typeface="Times New Roman"/>
                <a:cs typeface="Times New Roman"/>
              </a:rPr>
              <a:t>Department</a:t>
            </a:r>
            <a:r>
              <a:rPr sz="1900" spc="190">
                <a:latin typeface="Times New Roman"/>
                <a:cs typeface="Times New Roman"/>
              </a:rPr>
              <a:t> </a:t>
            </a:r>
            <a:r>
              <a:rPr sz="1900">
                <a:latin typeface="Times New Roman"/>
                <a:cs typeface="Times New Roman"/>
              </a:rPr>
              <a:t>of</a:t>
            </a:r>
            <a:r>
              <a:rPr sz="1900" spc="165">
                <a:latin typeface="Times New Roman"/>
                <a:cs typeface="Times New Roman"/>
              </a:rPr>
              <a:t> </a:t>
            </a:r>
            <a:r>
              <a:rPr sz="1900">
                <a:latin typeface="Times New Roman"/>
                <a:cs typeface="Times New Roman"/>
              </a:rPr>
              <a:t>Mechanical</a:t>
            </a:r>
            <a:r>
              <a:rPr sz="1900" spc="285">
                <a:latin typeface="Times New Roman"/>
                <a:cs typeface="Times New Roman"/>
              </a:rPr>
              <a:t> </a:t>
            </a:r>
            <a:r>
              <a:rPr sz="1900">
                <a:latin typeface="Times New Roman"/>
                <a:cs typeface="Times New Roman"/>
              </a:rPr>
              <a:t>Engg.,</a:t>
            </a:r>
            <a:r>
              <a:rPr sz="1900" spc="280">
                <a:latin typeface="Times New Roman"/>
                <a:cs typeface="Times New Roman"/>
              </a:rPr>
              <a:t> </a:t>
            </a:r>
            <a:r>
              <a:rPr sz="1900" spc="60">
                <a:latin typeface="Times New Roman"/>
                <a:cs typeface="Times New Roman"/>
              </a:rPr>
              <a:t>M.K.C.E</a:t>
            </a:r>
            <a:endParaRPr sz="1900">
              <a:latin typeface="Times New Roman"/>
              <a:cs typeface="Times New Roman"/>
            </a:endParaRPr>
          </a:p>
          <a:p>
            <a:pPr>
              <a:lnSpc>
                <a:spcPct val="100000"/>
              </a:lnSpc>
              <a:spcBef>
                <a:spcPts val="285"/>
              </a:spcBef>
            </a:pPr>
            <a:endParaRPr sz="1900">
              <a:latin typeface="Times New Roman"/>
              <a:cs typeface="Times New Roman"/>
            </a:endParaRPr>
          </a:p>
          <a:p>
            <a:pPr marR="52069" algn="ctr">
              <a:lnSpc>
                <a:spcPct val="100000"/>
              </a:lnSpc>
            </a:pPr>
            <a:r>
              <a:rPr sz="2100" spc="90">
                <a:solidFill>
                  <a:srgbClr val="1F487C"/>
                </a:solidFill>
                <a:latin typeface="Times New Roman"/>
                <a:cs typeface="Times New Roman"/>
              </a:rPr>
              <a:t>Under</a:t>
            </a:r>
            <a:r>
              <a:rPr sz="2100" spc="225">
                <a:solidFill>
                  <a:srgbClr val="1F487C"/>
                </a:solidFill>
                <a:latin typeface="Times New Roman"/>
                <a:cs typeface="Times New Roman"/>
              </a:rPr>
              <a:t> </a:t>
            </a:r>
            <a:r>
              <a:rPr sz="2100">
                <a:solidFill>
                  <a:srgbClr val="1F487C"/>
                </a:solidFill>
                <a:latin typeface="Times New Roman"/>
                <a:cs typeface="Times New Roman"/>
              </a:rPr>
              <a:t>the</a:t>
            </a:r>
            <a:r>
              <a:rPr sz="2100" spc="260">
                <a:solidFill>
                  <a:srgbClr val="1F487C"/>
                </a:solidFill>
                <a:latin typeface="Times New Roman"/>
                <a:cs typeface="Times New Roman"/>
              </a:rPr>
              <a:t> </a:t>
            </a:r>
            <a:r>
              <a:rPr sz="2100">
                <a:solidFill>
                  <a:srgbClr val="1F487C"/>
                </a:solidFill>
                <a:latin typeface="Times New Roman"/>
                <a:cs typeface="Times New Roman"/>
              </a:rPr>
              <a:t>supervision</a:t>
            </a:r>
            <a:r>
              <a:rPr sz="2100" spc="295">
                <a:solidFill>
                  <a:srgbClr val="1F487C"/>
                </a:solidFill>
                <a:latin typeface="Times New Roman"/>
                <a:cs typeface="Times New Roman"/>
              </a:rPr>
              <a:t> </a:t>
            </a:r>
            <a:r>
              <a:rPr sz="2100" spc="-25">
                <a:solidFill>
                  <a:srgbClr val="1F487C"/>
                </a:solidFill>
                <a:latin typeface="Times New Roman"/>
                <a:cs typeface="Times New Roman"/>
              </a:rPr>
              <a:t>of</a:t>
            </a:r>
            <a:endParaRPr sz="2100">
              <a:latin typeface="Times New Roman"/>
              <a:cs typeface="Times New Roman"/>
            </a:endParaRPr>
          </a:p>
          <a:p>
            <a:pPr algn="ctr">
              <a:lnSpc>
                <a:spcPct val="100000"/>
              </a:lnSpc>
            </a:pPr>
            <a:r>
              <a:rPr sz="2100" b="1">
                <a:solidFill>
                  <a:srgbClr val="BE0000"/>
                </a:solidFill>
                <a:latin typeface="Times New Roman"/>
                <a:cs typeface="Times New Roman"/>
              </a:rPr>
              <a:t>Prof</a:t>
            </a:r>
            <a:r>
              <a:rPr sz="2100" b="1" spc="90">
                <a:solidFill>
                  <a:srgbClr val="BE0000"/>
                </a:solidFill>
                <a:latin typeface="Times New Roman"/>
                <a:cs typeface="Times New Roman"/>
              </a:rPr>
              <a:t> </a:t>
            </a:r>
            <a:r>
              <a:rPr sz="2100" b="1">
                <a:solidFill>
                  <a:srgbClr val="BE0000"/>
                </a:solidFill>
                <a:latin typeface="Times New Roman"/>
                <a:cs typeface="Times New Roman"/>
              </a:rPr>
              <a:t>.</a:t>
            </a:r>
            <a:r>
              <a:rPr sz="2100" b="1" spc="180">
                <a:solidFill>
                  <a:srgbClr val="BE0000"/>
                </a:solidFill>
                <a:latin typeface="Times New Roman"/>
                <a:cs typeface="Times New Roman"/>
              </a:rPr>
              <a:t> </a:t>
            </a:r>
            <a:r>
              <a:rPr sz="2100" b="1">
                <a:solidFill>
                  <a:srgbClr val="BE0000"/>
                </a:solidFill>
                <a:latin typeface="Times New Roman"/>
                <a:cs typeface="Times New Roman"/>
              </a:rPr>
              <a:t>Dr.</a:t>
            </a:r>
            <a:r>
              <a:rPr sz="2100" b="1" spc="80">
                <a:solidFill>
                  <a:srgbClr val="BE0000"/>
                </a:solidFill>
                <a:latin typeface="Times New Roman"/>
                <a:cs typeface="Times New Roman"/>
              </a:rPr>
              <a:t> </a:t>
            </a:r>
            <a:r>
              <a:rPr sz="2100" b="1">
                <a:solidFill>
                  <a:srgbClr val="BE0000"/>
                </a:solidFill>
                <a:latin typeface="Times New Roman"/>
                <a:cs typeface="Times New Roman"/>
              </a:rPr>
              <a:t>M.</a:t>
            </a:r>
            <a:r>
              <a:rPr sz="2100" b="1" spc="204">
                <a:solidFill>
                  <a:srgbClr val="BE0000"/>
                </a:solidFill>
                <a:latin typeface="Times New Roman"/>
                <a:cs typeface="Times New Roman"/>
              </a:rPr>
              <a:t> </a:t>
            </a:r>
            <a:r>
              <a:rPr sz="2100" b="1">
                <a:solidFill>
                  <a:srgbClr val="BE0000"/>
                </a:solidFill>
                <a:latin typeface="Times New Roman"/>
                <a:cs typeface="Times New Roman"/>
              </a:rPr>
              <a:t>BALAKRISHNAN,</a:t>
            </a:r>
            <a:r>
              <a:rPr sz="2100" b="1" spc="50">
                <a:solidFill>
                  <a:srgbClr val="BE0000"/>
                </a:solidFill>
                <a:latin typeface="Times New Roman"/>
                <a:cs typeface="Times New Roman"/>
              </a:rPr>
              <a:t> </a:t>
            </a:r>
            <a:r>
              <a:rPr sz="2100" b="1">
                <a:solidFill>
                  <a:srgbClr val="BE0000"/>
                </a:solidFill>
                <a:latin typeface="Times New Roman"/>
                <a:cs typeface="Times New Roman"/>
              </a:rPr>
              <a:t>M.E.,</a:t>
            </a:r>
            <a:r>
              <a:rPr sz="2100" b="1" spc="180">
                <a:solidFill>
                  <a:srgbClr val="BE0000"/>
                </a:solidFill>
                <a:latin typeface="Times New Roman"/>
                <a:cs typeface="Times New Roman"/>
              </a:rPr>
              <a:t> </a:t>
            </a:r>
            <a:r>
              <a:rPr sz="2100" b="1" spc="-10">
                <a:solidFill>
                  <a:srgbClr val="BE0000"/>
                </a:solidFill>
                <a:latin typeface="Times New Roman"/>
                <a:cs typeface="Times New Roman"/>
              </a:rPr>
              <a:t>Ph.D.,</a:t>
            </a:r>
            <a:endParaRPr sz="2100">
              <a:latin typeface="Times New Roman"/>
              <a:cs typeface="Times New Roman"/>
            </a:endParaRPr>
          </a:p>
          <a:p>
            <a:pPr marR="1270" algn="ctr">
              <a:lnSpc>
                <a:spcPct val="100000"/>
              </a:lnSpc>
            </a:pPr>
            <a:r>
              <a:rPr sz="2100" spc="-10">
                <a:solidFill>
                  <a:srgbClr val="1F487C"/>
                </a:solidFill>
                <a:latin typeface="Times New Roman"/>
                <a:cs typeface="Times New Roman"/>
              </a:rPr>
              <a:t>Professor,</a:t>
            </a:r>
            <a:endParaRPr sz="2100">
              <a:latin typeface="Times New Roman"/>
              <a:cs typeface="Times New Roman"/>
            </a:endParaRPr>
          </a:p>
          <a:p>
            <a:pPr marR="8255" algn="ctr">
              <a:lnSpc>
                <a:spcPct val="100000"/>
              </a:lnSpc>
            </a:pPr>
            <a:r>
              <a:rPr sz="2100" spc="85">
                <a:solidFill>
                  <a:srgbClr val="1F487C"/>
                </a:solidFill>
                <a:latin typeface="Times New Roman"/>
                <a:cs typeface="Times New Roman"/>
              </a:rPr>
              <a:t>Dept</a:t>
            </a:r>
            <a:r>
              <a:rPr sz="2100" spc="160">
                <a:solidFill>
                  <a:srgbClr val="1F487C"/>
                </a:solidFill>
                <a:latin typeface="Times New Roman"/>
                <a:cs typeface="Times New Roman"/>
              </a:rPr>
              <a:t> </a:t>
            </a:r>
            <a:r>
              <a:rPr sz="2100">
                <a:solidFill>
                  <a:srgbClr val="1F487C"/>
                </a:solidFill>
                <a:latin typeface="Times New Roman"/>
                <a:cs typeface="Times New Roman"/>
              </a:rPr>
              <a:t>of</a:t>
            </a:r>
            <a:r>
              <a:rPr sz="2100" spc="140">
                <a:solidFill>
                  <a:srgbClr val="1F487C"/>
                </a:solidFill>
                <a:latin typeface="Times New Roman"/>
                <a:cs typeface="Times New Roman"/>
              </a:rPr>
              <a:t> </a:t>
            </a:r>
            <a:r>
              <a:rPr sz="2100" spc="50">
                <a:solidFill>
                  <a:srgbClr val="1F487C"/>
                </a:solidFill>
                <a:latin typeface="Times New Roman"/>
                <a:cs typeface="Times New Roman"/>
              </a:rPr>
              <a:t>Mechanical</a:t>
            </a:r>
            <a:r>
              <a:rPr sz="2100" spc="100">
                <a:solidFill>
                  <a:srgbClr val="1F487C"/>
                </a:solidFill>
                <a:latin typeface="Times New Roman"/>
                <a:cs typeface="Times New Roman"/>
              </a:rPr>
              <a:t> </a:t>
            </a:r>
            <a:r>
              <a:rPr sz="2100">
                <a:solidFill>
                  <a:srgbClr val="1F487C"/>
                </a:solidFill>
                <a:latin typeface="Times New Roman"/>
                <a:cs typeface="Times New Roman"/>
              </a:rPr>
              <a:t>Engg.,</a:t>
            </a:r>
            <a:r>
              <a:rPr sz="2100" spc="190">
                <a:solidFill>
                  <a:srgbClr val="1F487C"/>
                </a:solidFill>
                <a:latin typeface="Times New Roman"/>
                <a:cs typeface="Times New Roman"/>
              </a:rPr>
              <a:t> </a:t>
            </a:r>
            <a:r>
              <a:rPr sz="2100" spc="65">
                <a:solidFill>
                  <a:srgbClr val="1F487C"/>
                </a:solidFill>
                <a:latin typeface="Times New Roman"/>
                <a:cs typeface="Times New Roman"/>
              </a:rPr>
              <a:t>M.K.C.E,</a:t>
            </a:r>
            <a:endParaRPr sz="2100">
              <a:latin typeface="Times New Roman"/>
              <a:cs typeface="Times New Roman"/>
            </a:endParaRPr>
          </a:p>
          <a:p>
            <a:pPr marR="138430" algn="ctr">
              <a:lnSpc>
                <a:spcPct val="100000"/>
              </a:lnSpc>
              <a:spcBef>
                <a:spcPts val="5"/>
              </a:spcBef>
            </a:pPr>
            <a:r>
              <a:rPr sz="2100" spc="75">
                <a:solidFill>
                  <a:srgbClr val="1F487C"/>
                </a:solidFill>
                <a:latin typeface="Times New Roman"/>
                <a:cs typeface="Times New Roman"/>
              </a:rPr>
              <a:t>Karur</a:t>
            </a:r>
            <a:r>
              <a:rPr sz="2100" b="1" spc="75">
                <a:solidFill>
                  <a:srgbClr val="1F487C"/>
                </a:solidFill>
                <a:latin typeface="Times New Roman"/>
                <a:cs typeface="Times New Roman"/>
              </a:rPr>
              <a:t>.</a:t>
            </a:r>
            <a:endParaRPr sz="2100">
              <a:latin typeface="Times New Roman"/>
              <a:cs typeface="Times New Roman"/>
            </a:endParaRPr>
          </a:p>
        </p:txBody>
      </p:sp>
      <p:sp>
        <p:nvSpPr>
          <p:cNvPr id="6" name="object 6"/>
          <p:cNvSpPr txBox="1">
            <a:spLocks noGrp="1"/>
          </p:cNvSpPr>
          <p:nvPr>
            <p:ph type="title"/>
          </p:nvPr>
        </p:nvSpPr>
        <p:spPr>
          <a:xfrm>
            <a:off x="1633283" y="1266286"/>
            <a:ext cx="7846059" cy="390171"/>
          </a:xfrm>
          <a:prstGeom prst="rect">
            <a:avLst/>
          </a:prstGeom>
        </p:spPr>
        <p:txBody>
          <a:bodyPr vert="horz" wrap="square" lIns="0" tIns="635" rIns="0" bIns="0" rtlCol="0" anchor="t">
            <a:spAutoFit/>
          </a:bodyPr>
          <a:lstStyle/>
          <a:p>
            <a:pPr marL="12700" marR="5080">
              <a:lnSpc>
                <a:spcPct val="102899"/>
              </a:lnSpc>
              <a:spcBef>
                <a:spcPts val="5"/>
              </a:spcBef>
            </a:pPr>
            <a:r>
              <a:rPr sz="2550" b="0">
                <a:solidFill>
                  <a:srgbClr val="FF0000"/>
                </a:solidFill>
                <a:latin typeface="Calibri"/>
                <a:cs typeface="Calibri"/>
              </a:rPr>
              <a:t>Title:</a:t>
            </a:r>
            <a:r>
              <a:rPr sz="2550" b="0" spc="-30">
                <a:solidFill>
                  <a:srgbClr val="FF0000"/>
                </a:solidFill>
                <a:latin typeface="Calibri"/>
                <a:cs typeface="Calibri"/>
              </a:rPr>
              <a:t> </a:t>
            </a:r>
            <a:r>
              <a:rPr sz="2400" b="0">
                <a:latin typeface="Times New Roman"/>
                <a:cs typeface="Times New Roman"/>
              </a:rPr>
              <a:t>Drone</a:t>
            </a:r>
            <a:r>
              <a:rPr sz="2400" b="0" spc="-40">
                <a:latin typeface="Times New Roman"/>
                <a:cs typeface="Times New Roman"/>
              </a:rPr>
              <a:t> </a:t>
            </a:r>
            <a:r>
              <a:rPr sz="2400" b="0">
                <a:latin typeface="Times New Roman"/>
                <a:cs typeface="Times New Roman"/>
              </a:rPr>
              <a:t>Technology</a:t>
            </a:r>
            <a:r>
              <a:rPr lang="en-US" sz="2400" b="0"/>
              <a:t> Of</a:t>
            </a:r>
            <a:r>
              <a:rPr lang="en-US" sz="2400" b="0" spc="-35"/>
              <a:t> Honey Harvesting</a:t>
            </a:r>
            <a:endParaRPr lang="en-US" sz="2400" b="0">
              <a:latin typeface="Times New Roman"/>
              <a:cs typeface="Times New Roman"/>
            </a:endParaRPr>
          </a:p>
        </p:txBody>
      </p:sp>
      <p:sp>
        <p:nvSpPr>
          <p:cNvPr id="7" name="object 7"/>
          <p:cNvSpPr txBox="1"/>
          <p:nvPr/>
        </p:nvSpPr>
        <p:spPr>
          <a:xfrm>
            <a:off x="4021582" y="6821830"/>
            <a:ext cx="1694180" cy="215900"/>
          </a:xfrm>
          <a:prstGeom prst="rect">
            <a:avLst/>
          </a:prstGeom>
        </p:spPr>
        <p:txBody>
          <a:bodyPr vert="horz" wrap="square" lIns="0" tIns="12065" rIns="0" bIns="0" rtlCol="0">
            <a:spAutoFit/>
          </a:bodyPr>
          <a:lstStyle/>
          <a:p>
            <a:pPr marL="12700">
              <a:lnSpc>
                <a:spcPct val="100000"/>
              </a:lnSpc>
              <a:spcBef>
                <a:spcPts val="95"/>
              </a:spcBef>
            </a:pPr>
            <a:r>
              <a:rPr sz="1250">
                <a:solidFill>
                  <a:srgbClr val="888888"/>
                </a:solidFill>
                <a:latin typeface="Calibri"/>
                <a:cs typeface="Calibri"/>
              </a:rPr>
              <a:t>MKCE</a:t>
            </a:r>
            <a:r>
              <a:rPr sz="1250" spc="-10">
                <a:solidFill>
                  <a:srgbClr val="888888"/>
                </a:solidFill>
                <a:latin typeface="Calibri"/>
                <a:cs typeface="Calibri"/>
              </a:rPr>
              <a:t> </a:t>
            </a:r>
            <a:r>
              <a:rPr sz="1250">
                <a:solidFill>
                  <a:srgbClr val="888888"/>
                </a:solidFill>
                <a:latin typeface="Calibri"/>
                <a:cs typeface="Calibri"/>
              </a:rPr>
              <a:t>Presentation</a:t>
            </a:r>
            <a:r>
              <a:rPr sz="1250" spc="55">
                <a:solidFill>
                  <a:srgbClr val="888888"/>
                </a:solidFill>
                <a:latin typeface="Calibri"/>
                <a:cs typeface="Calibri"/>
              </a:rPr>
              <a:t> </a:t>
            </a:r>
            <a:r>
              <a:rPr sz="1250">
                <a:solidFill>
                  <a:srgbClr val="888888"/>
                </a:solidFill>
                <a:latin typeface="Calibri"/>
                <a:cs typeface="Calibri"/>
              </a:rPr>
              <a:t>Day</a:t>
            </a:r>
            <a:r>
              <a:rPr sz="1250" spc="-15">
                <a:solidFill>
                  <a:srgbClr val="888888"/>
                </a:solidFill>
                <a:latin typeface="Calibri"/>
                <a:cs typeface="Calibri"/>
              </a:rPr>
              <a:t> </a:t>
            </a:r>
            <a:r>
              <a:rPr sz="1250" spc="-10">
                <a:solidFill>
                  <a:srgbClr val="888888"/>
                </a:solidFill>
                <a:latin typeface="Calibri"/>
                <a:cs typeface="Calibri"/>
              </a:rPr>
              <a:t>-</a:t>
            </a:r>
            <a:r>
              <a:rPr sz="1250" spc="-50">
                <a:solidFill>
                  <a:srgbClr val="888888"/>
                </a:solidFill>
                <a:latin typeface="Calibri"/>
                <a:cs typeface="Calibri"/>
              </a:rPr>
              <a:t>I</a:t>
            </a:r>
            <a:endParaRPr sz="1250">
              <a:latin typeface="Calibri"/>
              <a:cs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2758439" y="402336"/>
            <a:ext cx="3831590" cy="633730"/>
            <a:chOff x="2758439" y="402336"/>
            <a:chExt cx="3831590" cy="633730"/>
          </a:xfrm>
        </p:grpSpPr>
        <p:sp>
          <p:nvSpPr>
            <p:cNvPr id="3" name="object 3"/>
            <p:cNvSpPr/>
            <p:nvPr/>
          </p:nvSpPr>
          <p:spPr>
            <a:xfrm>
              <a:off x="2764535" y="405422"/>
              <a:ext cx="3818890" cy="624840"/>
            </a:xfrm>
            <a:custGeom>
              <a:avLst/>
              <a:gdLst/>
              <a:ahLst/>
              <a:cxnLst/>
              <a:rect l="l" t="t" r="r" b="b"/>
              <a:pathLst>
                <a:path w="3818890" h="624840">
                  <a:moveTo>
                    <a:pt x="3818509" y="0"/>
                  </a:moveTo>
                  <a:lnTo>
                    <a:pt x="0" y="0"/>
                  </a:lnTo>
                  <a:lnTo>
                    <a:pt x="0" y="624420"/>
                  </a:lnTo>
                  <a:lnTo>
                    <a:pt x="3818509" y="624420"/>
                  </a:lnTo>
                  <a:lnTo>
                    <a:pt x="3818509" y="0"/>
                  </a:lnTo>
                  <a:close/>
                </a:path>
              </a:pathLst>
            </a:custGeom>
            <a:solidFill>
              <a:srgbClr val="FFFFCC"/>
            </a:solidFill>
          </p:spPr>
          <p:txBody>
            <a:bodyPr wrap="square" lIns="0" tIns="0" rIns="0" bIns="0" rtlCol="0"/>
            <a:lstStyle/>
            <a:p>
              <a:endParaRPr/>
            </a:p>
          </p:txBody>
        </p:sp>
        <p:sp>
          <p:nvSpPr>
            <p:cNvPr id="4" name="object 4"/>
            <p:cNvSpPr/>
            <p:nvPr/>
          </p:nvSpPr>
          <p:spPr>
            <a:xfrm>
              <a:off x="2758440" y="402335"/>
              <a:ext cx="3831590" cy="633730"/>
            </a:xfrm>
            <a:custGeom>
              <a:avLst/>
              <a:gdLst/>
              <a:ahLst/>
              <a:cxnLst/>
              <a:rect l="l" t="t" r="r" b="b"/>
              <a:pathLst>
                <a:path w="3831590" h="633730">
                  <a:moveTo>
                    <a:pt x="3831336" y="2286"/>
                  </a:moveTo>
                  <a:lnTo>
                    <a:pt x="3829050" y="0"/>
                  </a:lnTo>
                  <a:lnTo>
                    <a:pt x="3826256" y="0"/>
                  </a:lnTo>
                  <a:lnTo>
                    <a:pt x="3826256" y="5080"/>
                  </a:lnTo>
                  <a:lnTo>
                    <a:pt x="3826256" y="5334"/>
                  </a:lnTo>
                  <a:lnTo>
                    <a:pt x="3821290" y="5334"/>
                  </a:lnTo>
                  <a:lnTo>
                    <a:pt x="3821290" y="5080"/>
                  </a:lnTo>
                  <a:lnTo>
                    <a:pt x="3826256" y="5080"/>
                  </a:lnTo>
                  <a:lnTo>
                    <a:pt x="3826256" y="0"/>
                  </a:lnTo>
                  <a:lnTo>
                    <a:pt x="3821176" y="0"/>
                  </a:lnTo>
                  <a:lnTo>
                    <a:pt x="3821176" y="10160"/>
                  </a:lnTo>
                  <a:lnTo>
                    <a:pt x="3821176" y="10414"/>
                  </a:lnTo>
                  <a:lnTo>
                    <a:pt x="3821176" y="623481"/>
                  </a:lnTo>
                  <a:lnTo>
                    <a:pt x="10160" y="623481"/>
                  </a:lnTo>
                  <a:lnTo>
                    <a:pt x="10160" y="628523"/>
                  </a:lnTo>
                  <a:lnTo>
                    <a:pt x="10121" y="623481"/>
                  </a:lnTo>
                  <a:lnTo>
                    <a:pt x="5080" y="623481"/>
                  </a:lnTo>
                  <a:lnTo>
                    <a:pt x="10160" y="623443"/>
                  </a:lnTo>
                  <a:lnTo>
                    <a:pt x="10160" y="10160"/>
                  </a:lnTo>
                  <a:lnTo>
                    <a:pt x="10121" y="5080"/>
                  </a:lnTo>
                  <a:lnTo>
                    <a:pt x="10160" y="10160"/>
                  </a:lnTo>
                  <a:lnTo>
                    <a:pt x="3821176" y="10160"/>
                  </a:lnTo>
                  <a:lnTo>
                    <a:pt x="3821176" y="0"/>
                  </a:lnTo>
                  <a:lnTo>
                    <a:pt x="2286" y="0"/>
                  </a:lnTo>
                  <a:lnTo>
                    <a:pt x="0" y="2286"/>
                  </a:lnTo>
                  <a:lnTo>
                    <a:pt x="0" y="631190"/>
                  </a:lnTo>
                  <a:lnTo>
                    <a:pt x="2286" y="633476"/>
                  </a:lnTo>
                  <a:lnTo>
                    <a:pt x="3829050" y="633476"/>
                  </a:lnTo>
                  <a:lnTo>
                    <a:pt x="3831336" y="631190"/>
                  </a:lnTo>
                  <a:lnTo>
                    <a:pt x="3831336" y="628523"/>
                  </a:lnTo>
                  <a:lnTo>
                    <a:pt x="3831298" y="623824"/>
                  </a:lnTo>
                  <a:lnTo>
                    <a:pt x="3831336" y="10414"/>
                  </a:lnTo>
                  <a:lnTo>
                    <a:pt x="3826256" y="10414"/>
                  </a:lnTo>
                  <a:lnTo>
                    <a:pt x="3826256" y="10160"/>
                  </a:lnTo>
                  <a:lnTo>
                    <a:pt x="3831298" y="10160"/>
                  </a:lnTo>
                  <a:lnTo>
                    <a:pt x="3831298" y="5080"/>
                  </a:lnTo>
                  <a:lnTo>
                    <a:pt x="3831336" y="2286"/>
                  </a:lnTo>
                  <a:close/>
                </a:path>
              </a:pathLst>
            </a:custGeom>
            <a:solidFill>
              <a:srgbClr val="00AF4F"/>
            </a:solidFill>
          </p:spPr>
          <p:txBody>
            <a:bodyPr wrap="square" lIns="0" tIns="0" rIns="0" bIns="0" rtlCol="0"/>
            <a:lstStyle/>
            <a:p>
              <a:endParaRPr/>
            </a:p>
          </p:txBody>
        </p:sp>
      </p:grpSp>
      <p:sp>
        <p:nvSpPr>
          <p:cNvPr id="5" name="object 5"/>
          <p:cNvSpPr txBox="1">
            <a:spLocks noGrp="1"/>
          </p:cNvSpPr>
          <p:nvPr>
            <p:ph type="title"/>
          </p:nvPr>
        </p:nvSpPr>
        <p:spPr>
          <a:prstGeom prst="rect">
            <a:avLst/>
          </a:prstGeom>
        </p:spPr>
        <p:txBody>
          <a:bodyPr vert="horz" wrap="square" lIns="0" tIns="350392" rIns="0" bIns="0" rtlCol="0">
            <a:spAutoFit/>
          </a:bodyPr>
          <a:lstStyle/>
          <a:p>
            <a:pPr marL="2002789">
              <a:lnSpc>
                <a:spcPct val="100000"/>
              </a:lnSpc>
              <a:spcBef>
                <a:spcPts val="110"/>
              </a:spcBef>
            </a:pPr>
            <a:r>
              <a:rPr sz="3400" spc="40">
                <a:solidFill>
                  <a:srgbClr val="BE0000"/>
                </a:solidFill>
              </a:rPr>
              <a:t>INTRODUCTION</a:t>
            </a:r>
            <a:endParaRPr sz="3400"/>
          </a:p>
        </p:txBody>
      </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ts val="1285"/>
              </a:lnSpc>
            </a:pPr>
            <a:r>
              <a:t>MKCE</a:t>
            </a:r>
            <a:r>
              <a:rPr spc="-10"/>
              <a:t> </a:t>
            </a:r>
            <a:r>
              <a:t>Presentation</a:t>
            </a:r>
            <a:r>
              <a:rPr spc="55"/>
              <a:t> </a:t>
            </a:r>
            <a:r>
              <a:t>Day</a:t>
            </a:r>
            <a:r>
              <a:rPr spc="-15"/>
              <a:t> </a:t>
            </a:r>
            <a:r>
              <a:rPr spc="-10"/>
              <a:t>-</a:t>
            </a:r>
            <a:r>
              <a:rPr spc="-50"/>
              <a:t>I</a:t>
            </a:r>
          </a:p>
        </p:txBody>
      </p:sp>
      <p:sp>
        <p:nvSpPr>
          <p:cNvPr id="8" name="object 8"/>
          <p:cNvSpPr txBox="1"/>
          <p:nvPr/>
        </p:nvSpPr>
        <p:spPr>
          <a:xfrm>
            <a:off x="9147936" y="6861149"/>
            <a:ext cx="169545" cy="184150"/>
          </a:xfrm>
          <a:prstGeom prst="rect">
            <a:avLst/>
          </a:prstGeom>
        </p:spPr>
        <p:txBody>
          <a:bodyPr vert="horz" wrap="square" lIns="0" tIns="0" rIns="0" bIns="0" rtlCol="0">
            <a:spAutoFit/>
          </a:bodyPr>
          <a:lstStyle/>
          <a:p>
            <a:pPr marL="38100">
              <a:lnSpc>
                <a:spcPts val="1285"/>
              </a:lnSpc>
            </a:pPr>
            <a:fld id="{81D60167-4931-47E6-BA6A-407CBD079E47}" type="slidenum">
              <a:rPr sz="1250" spc="-50" dirty="0">
                <a:solidFill>
                  <a:srgbClr val="888888"/>
                </a:solidFill>
                <a:latin typeface="Calibri"/>
                <a:cs typeface="Calibri"/>
              </a:rPr>
              <a:t>2</a:t>
            </a:fld>
            <a:endParaRPr sz="1250">
              <a:latin typeface="Calibri"/>
              <a:cs typeface="Calibri"/>
            </a:endParaRPr>
          </a:p>
        </p:txBody>
      </p:sp>
      <p:sp>
        <p:nvSpPr>
          <p:cNvPr id="6" name="object 6"/>
          <p:cNvSpPr txBox="1"/>
          <p:nvPr/>
        </p:nvSpPr>
        <p:spPr>
          <a:xfrm>
            <a:off x="906950" y="2029750"/>
            <a:ext cx="7982584" cy="3377720"/>
          </a:xfrm>
          <a:prstGeom prst="rect">
            <a:avLst/>
          </a:prstGeom>
        </p:spPr>
        <p:txBody>
          <a:bodyPr vert="horz" wrap="square" lIns="0" tIns="24130" rIns="0" bIns="0" rtlCol="0">
            <a:spAutoFit/>
          </a:bodyPr>
          <a:lstStyle/>
          <a:p>
            <a:pPr marL="12700" marR="5080" lvl="1" algn="l">
              <a:spcBef>
                <a:spcPts val="190"/>
              </a:spcBef>
            </a:pPr>
            <a:r>
              <a:rPr lang="en-IN"/>
              <a:t>Beekeeping has long been an essential agricultural practice, providing not only honey but also crucial pollination services for crops. Traditionally, honey harvesting is a </a:t>
            </a:r>
            <a:r>
              <a:rPr lang="en-IN" err="1"/>
              <a:t>labor-intensive</a:t>
            </a:r>
            <a:r>
              <a:rPr lang="en-IN"/>
              <a:t> and sometimes hazardous process that exposes beekeepers to stings and disrupts the natural </a:t>
            </a:r>
            <a:r>
              <a:rPr lang="en-IN" err="1"/>
              <a:t>behavior</a:t>
            </a:r>
            <a:r>
              <a:rPr lang="en-IN"/>
              <a:t> of bee colonies. With advancements in automation and aerial technology, drone-based honey harvesting has emerged as an innovative solution to these </a:t>
            </a:r>
            <a:r>
              <a:rPr lang="en-IN" err="1"/>
              <a:t>challenges.Drones</a:t>
            </a:r>
            <a:r>
              <a:rPr lang="en-IN"/>
              <a:t> equipped with sensors, cameras, and robotic mechanisms can monitor hives, assess honey maturity, and even extract honey with minimal human intervention. This technology offers several advantages, including enhanced safety, reduced hive disturbance, real-time data collection, and increased efficiency in large-scale apiary management.</a:t>
            </a:r>
          </a:p>
          <a:p>
            <a:pPr marL="12700" marR="5080" algn="just">
              <a:lnSpc>
                <a:spcPct val="95900"/>
              </a:lnSpc>
              <a:spcBef>
                <a:spcPts val="190"/>
              </a:spcBef>
            </a:pPr>
            <a:endParaRPr sz="1900">
              <a:latin typeface="Times New Roman"/>
              <a:cs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285"/>
              </a:lnSpc>
            </a:pPr>
            <a:r>
              <a:t>MKCE</a:t>
            </a:r>
            <a:r>
              <a:rPr spc="-10"/>
              <a:t> </a:t>
            </a:r>
            <a:r>
              <a:t>Presentation</a:t>
            </a:r>
            <a:r>
              <a:rPr spc="55"/>
              <a:t> </a:t>
            </a:r>
            <a:r>
              <a:t>Day</a:t>
            </a:r>
            <a:r>
              <a:rPr spc="-15"/>
              <a:t> </a:t>
            </a:r>
            <a:r>
              <a:rPr spc="-10"/>
              <a:t>-</a:t>
            </a:r>
            <a:r>
              <a:rPr spc="-50"/>
              <a:t>I</a:t>
            </a:r>
          </a:p>
        </p:txBody>
      </p:sp>
      <p:sp>
        <p:nvSpPr>
          <p:cNvPr id="5" name="object 5"/>
          <p:cNvSpPr txBox="1"/>
          <p:nvPr/>
        </p:nvSpPr>
        <p:spPr>
          <a:xfrm>
            <a:off x="9147936" y="6861149"/>
            <a:ext cx="169545" cy="184150"/>
          </a:xfrm>
          <a:prstGeom prst="rect">
            <a:avLst/>
          </a:prstGeom>
        </p:spPr>
        <p:txBody>
          <a:bodyPr vert="horz" wrap="square" lIns="0" tIns="0" rIns="0" bIns="0" rtlCol="0">
            <a:spAutoFit/>
          </a:bodyPr>
          <a:lstStyle/>
          <a:p>
            <a:pPr marL="38100">
              <a:lnSpc>
                <a:spcPts val="1285"/>
              </a:lnSpc>
            </a:pPr>
            <a:fld id="{81D60167-4931-47E6-BA6A-407CBD079E47}" type="slidenum">
              <a:rPr sz="1250" spc="-50" dirty="0">
                <a:solidFill>
                  <a:srgbClr val="888888"/>
                </a:solidFill>
                <a:latin typeface="Calibri"/>
                <a:cs typeface="Calibri"/>
              </a:rPr>
              <a:t>3</a:t>
            </a:fld>
            <a:endParaRPr sz="1250">
              <a:latin typeface="Calibri"/>
              <a:cs typeface="Calibri"/>
            </a:endParaRPr>
          </a:p>
        </p:txBody>
      </p:sp>
      <p:sp>
        <p:nvSpPr>
          <p:cNvPr id="2" name="object 2"/>
          <p:cNvSpPr txBox="1">
            <a:spLocks noGrp="1"/>
          </p:cNvSpPr>
          <p:nvPr>
            <p:ph type="title"/>
          </p:nvPr>
        </p:nvSpPr>
        <p:spPr>
          <a:prstGeom prst="rect">
            <a:avLst/>
          </a:prstGeom>
        </p:spPr>
        <p:txBody>
          <a:bodyPr vert="horz" wrap="square" lIns="0" tIns="278764" rIns="0" bIns="0" rtlCol="0">
            <a:spAutoFit/>
          </a:bodyPr>
          <a:lstStyle/>
          <a:p>
            <a:pPr marL="2167890">
              <a:lnSpc>
                <a:spcPct val="100000"/>
              </a:lnSpc>
              <a:spcBef>
                <a:spcPts val="100"/>
              </a:spcBef>
            </a:pPr>
            <a:r>
              <a:rPr spc="-55">
                <a:solidFill>
                  <a:srgbClr val="BE0000"/>
                </a:solidFill>
              </a:rPr>
              <a:t>Literature</a:t>
            </a:r>
            <a:r>
              <a:rPr spc="-114">
                <a:solidFill>
                  <a:srgbClr val="BE0000"/>
                </a:solidFill>
              </a:rPr>
              <a:t> </a:t>
            </a:r>
            <a:r>
              <a:rPr spc="-55">
                <a:solidFill>
                  <a:srgbClr val="BE0000"/>
                </a:solidFill>
              </a:rPr>
              <a:t>background</a:t>
            </a:r>
          </a:p>
        </p:txBody>
      </p:sp>
      <p:sp>
        <p:nvSpPr>
          <p:cNvPr id="3" name="object 3"/>
          <p:cNvSpPr txBox="1"/>
          <p:nvPr/>
        </p:nvSpPr>
        <p:spPr>
          <a:xfrm>
            <a:off x="879144" y="1701164"/>
            <a:ext cx="7785100" cy="3501390"/>
          </a:xfrm>
          <a:prstGeom prst="rect">
            <a:avLst/>
          </a:prstGeom>
        </p:spPr>
        <p:txBody>
          <a:bodyPr vert="horz" wrap="square" lIns="0" tIns="12065" rIns="0" bIns="0" rtlCol="0">
            <a:spAutoFit/>
          </a:bodyPr>
          <a:lstStyle/>
          <a:p>
            <a:pPr marL="469265" indent="-456565">
              <a:lnSpc>
                <a:spcPct val="100000"/>
              </a:lnSpc>
              <a:spcBef>
                <a:spcPts val="95"/>
              </a:spcBef>
              <a:buAutoNum type="arabicPeriod"/>
              <a:tabLst>
                <a:tab pos="469265" algn="l"/>
              </a:tabLst>
            </a:pPr>
            <a:r>
              <a:rPr sz="1900" b="1">
                <a:latin typeface="Times New Roman"/>
                <a:cs typeface="Times New Roman"/>
              </a:rPr>
              <a:t>Urban</a:t>
            </a:r>
            <a:r>
              <a:rPr sz="1900" b="1" spc="-5">
                <a:latin typeface="Times New Roman"/>
                <a:cs typeface="Times New Roman"/>
              </a:rPr>
              <a:t> </a:t>
            </a:r>
            <a:r>
              <a:rPr sz="1900" b="1">
                <a:latin typeface="Times New Roman"/>
                <a:cs typeface="Times New Roman"/>
              </a:rPr>
              <a:t>Mobility</a:t>
            </a:r>
            <a:r>
              <a:rPr sz="1900" b="1" spc="-25">
                <a:latin typeface="Times New Roman"/>
                <a:cs typeface="Times New Roman"/>
              </a:rPr>
              <a:t> </a:t>
            </a:r>
            <a:r>
              <a:rPr sz="1900" b="1">
                <a:latin typeface="Times New Roman"/>
                <a:cs typeface="Times New Roman"/>
              </a:rPr>
              <a:t>Trials</a:t>
            </a:r>
            <a:r>
              <a:rPr sz="1900" b="1" spc="-45">
                <a:latin typeface="Times New Roman"/>
                <a:cs typeface="Times New Roman"/>
              </a:rPr>
              <a:t> </a:t>
            </a:r>
            <a:r>
              <a:rPr sz="1900" b="1" spc="-10">
                <a:latin typeface="Times New Roman"/>
                <a:cs typeface="Times New Roman"/>
              </a:rPr>
              <a:t>(2016–2020)</a:t>
            </a:r>
            <a:endParaRPr sz="1900">
              <a:latin typeface="Times New Roman"/>
              <a:cs typeface="Times New Roman"/>
            </a:endParaRPr>
          </a:p>
          <a:p>
            <a:pPr marL="12700">
              <a:lnSpc>
                <a:spcPct val="100000"/>
              </a:lnSpc>
            </a:pPr>
            <a:r>
              <a:rPr sz="1900" i="1">
                <a:latin typeface="Times New Roman"/>
                <a:cs typeface="Times New Roman"/>
              </a:rPr>
              <a:t>2016</a:t>
            </a:r>
            <a:r>
              <a:rPr sz="1900">
                <a:latin typeface="Times New Roman"/>
                <a:cs typeface="Times New Roman"/>
              </a:rPr>
              <a:t>:</a:t>
            </a:r>
            <a:r>
              <a:rPr sz="1900" spc="-60">
                <a:latin typeface="Times New Roman"/>
                <a:cs typeface="Times New Roman"/>
              </a:rPr>
              <a:t> </a:t>
            </a:r>
            <a:r>
              <a:rPr sz="1900">
                <a:latin typeface="Times New Roman"/>
                <a:cs typeface="Times New Roman"/>
              </a:rPr>
              <a:t>Dubai</a:t>
            </a:r>
            <a:r>
              <a:rPr sz="1900" spc="-40">
                <a:latin typeface="Times New Roman"/>
                <a:cs typeface="Times New Roman"/>
              </a:rPr>
              <a:t> </a:t>
            </a:r>
            <a:r>
              <a:rPr sz="1900">
                <a:latin typeface="Times New Roman"/>
                <a:cs typeface="Times New Roman"/>
              </a:rPr>
              <a:t>tested</a:t>
            </a:r>
            <a:r>
              <a:rPr sz="1900" spc="-20">
                <a:latin typeface="Times New Roman"/>
                <a:cs typeface="Times New Roman"/>
              </a:rPr>
              <a:t> </a:t>
            </a:r>
            <a:r>
              <a:rPr sz="1900">
                <a:latin typeface="Times New Roman"/>
                <a:cs typeface="Times New Roman"/>
              </a:rPr>
              <a:t>the</a:t>
            </a:r>
            <a:r>
              <a:rPr sz="1900" spc="-30">
                <a:latin typeface="Times New Roman"/>
                <a:cs typeface="Times New Roman"/>
              </a:rPr>
              <a:t> </a:t>
            </a:r>
            <a:r>
              <a:rPr sz="1900">
                <a:latin typeface="Times New Roman"/>
                <a:cs typeface="Times New Roman"/>
              </a:rPr>
              <a:t>EHang</a:t>
            </a:r>
            <a:r>
              <a:rPr sz="1900" spc="-30">
                <a:latin typeface="Times New Roman"/>
                <a:cs typeface="Times New Roman"/>
              </a:rPr>
              <a:t> </a:t>
            </a:r>
            <a:r>
              <a:rPr sz="1900">
                <a:latin typeface="Times New Roman"/>
                <a:cs typeface="Times New Roman"/>
              </a:rPr>
              <a:t>184</a:t>
            </a:r>
            <a:r>
              <a:rPr sz="1900" spc="-25">
                <a:latin typeface="Times New Roman"/>
                <a:cs typeface="Times New Roman"/>
              </a:rPr>
              <a:t> </a:t>
            </a:r>
            <a:r>
              <a:rPr sz="1900">
                <a:latin typeface="Times New Roman"/>
                <a:cs typeface="Times New Roman"/>
              </a:rPr>
              <a:t>passenger</a:t>
            </a:r>
            <a:r>
              <a:rPr sz="1900" spc="-45">
                <a:latin typeface="Times New Roman"/>
                <a:cs typeface="Times New Roman"/>
              </a:rPr>
              <a:t> </a:t>
            </a:r>
            <a:r>
              <a:rPr sz="1900">
                <a:latin typeface="Times New Roman"/>
                <a:cs typeface="Times New Roman"/>
              </a:rPr>
              <a:t>drone,</a:t>
            </a:r>
            <a:r>
              <a:rPr sz="1900" spc="-35">
                <a:latin typeface="Times New Roman"/>
                <a:cs typeface="Times New Roman"/>
              </a:rPr>
              <a:t> </a:t>
            </a:r>
            <a:r>
              <a:rPr sz="1900">
                <a:latin typeface="Times New Roman"/>
                <a:cs typeface="Times New Roman"/>
              </a:rPr>
              <a:t>showcasing</a:t>
            </a:r>
            <a:r>
              <a:rPr sz="1900" spc="-45">
                <a:latin typeface="Times New Roman"/>
                <a:cs typeface="Times New Roman"/>
              </a:rPr>
              <a:t> </a:t>
            </a:r>
            <a:r>
              <a:rPr sz="1900">
                <a:latin typeface="Times New Roman"/>
                <a:cs typeface="Times New Roman"/>
              </a:rPr>
              <a:t>the</a:t>
            </a:r>
            <a:r>
              <a:rPr sz="1900" spc="-40">
                <a:latin typeface="Times New Roman"/>
                <a:cs typeface="Times New Roman"/>
              </a:rPr>
              <a:t> </a:t>
            </a:r>
            <a:r>
              <a:rPr sz="1900">
                <a:latin typeface="Times New Roman"/>
                <a:cs typeface="Times New Roman"/>
              </a:rPr>
              <a:t>potential</a:t>
            </a:r>
            <a:r>
              <a:rPr sz="1900" spc="-65">
                <a:latin typeface="Times New Roman"/>
                <a:cs typeface="Times New Roman"/>
              </a:rPr>
              <a:t> </a:t>
            </a:r>
            <a:r>
              <a:rPr sz="1900" spc="-25">
                <a:latin typeface="Times New Roman"/>
                <a:cs typeface="Times New Roman"/>
              </a:rPr>
              <a:t>of</a:t>
            </a:r>
            <a:endParaRPr sz="1900">
              <a:latin typeface="Times New Roman"/>
              <a:cs typeface="Times New Roman"/>
            </a:endParaRPr>
          </a:p>
          <a:p>
            <a:pPr marL="12700">
              <a:lnSpc>
                <a:spcPct val="100000"/>
              </a:lnSpc>
              <a:spcBef>
                <a:spcPts val="5"/>
              </a:spcBef>
            </a:pPr>
            <a:r>
              <a:rPr sz="1900">
                <a:latin typeface="Times New Roman"/>
                <a:cs typeface="Times New Roman"/>
              </a:rPr>
              <a:t>urban</a:t>
            </a:r>
            <a:r>
              <a:rPr sz="1900" spc="-40">
                <a:latin typeface="Times New Roman"/>
                <a:cs typeface="Times New Roman"/>
              </a:rPr>
              <a:t> </a:t>
            </a:r>
            <a:r>
              <a:rPr sz="1900">
                <a:latin typeface="Times New Roman"/>
                <a:cs typeface="Times New Roman"/>
              </a:rPr>
              <a:t>air</a:t>
            </a:r>
            <a:r>
              <a:rPr sz="1900" spc="-30">
                <a:latin typeface="Times New Roman"/>
                <a:cs typeface="Times New Roman"/>
              </a:rPr>
              <a:t> </a:t>
            </a:r>
            <a:r>
              <a:rPr sz="1900" spc="-10">
                <a:latin typeface="Times New Roman"/>
                <a:cs typeface="Times New Roman"/>
              </a:rPr>
              <a:t>mobility.</a:t>
            </a:r>
            <a:endParaRPr sz="1900">
              <a:latin typeface="Times New Roman"/>
              <a:cs typeface="Times New Roman"/>
            </a:endParaRPr>
          </a:p>
          <a:p>
            <a:pPr marL="12700" marR="62865">
              <a:lnSpc>
                <a:spcPct val="100000"/>
              </a:lnSpc>
            </a:pPr>
            <a:r>
              <a:rPr sz="1900" i="1">
                <a:latin typeface="Times New Roman"/>
                <a:cs typeface="Times New Roman"/>
              </a:rPr>
              <a:t>2019</a:t>
            </a:r>
            <a:r>
              <a:rPr sz="1900">
                <a:latin typeface="Times New Roman"/>
                <a:cs typeface="Times New Roman"/>
              </a:rPr>
              <a:t>:</a:t>
            </a:r>
            <a:r>
              <a:rPr sz="1900" spc="-80">
                <a:latin typeface="Times New Roman"/>
                <a:cs typeface="Times New Roman"/>
              </a:rPr>
              <a:t> </a:t>
            </a:r>
            <a:r>
              <a:rPr sz="1900">
                <a:latin typeface="Times New Roman"/>
                <a:cs typeface="Times New Roman"/>
              </a:rPr>
              <a:t>Joby</a:t>
            </a:r>
            <a:r>
              <a:rPr sz="1900" spc="-70">
                <a:latin typeface="Times New Roman"/>
                <a:cs typeface="Times New Roman"/>
              </a:rPr>
              <a:t> </a:t>
            </a:r>
            <a:r>
              <a:rPr sz="1900">
                <a:latin typeface="Times New Roman"/>
                <a:cs typeface="Times New Roman"/>
              </a:rPr>
              <a:t>Aviation</a:t>
            </a:r>
            <a:r>
              <a:rPr sz="1900" spc="-25">
                <a:latin typeface="Times New Roman"/>
                <a:cs typeface="Times New Roman"/>
              </a:rPr>
              <a:t> </a:t>
            </a:r>
            <a:r>
              <a:rPr sz="1900">
                <a:latin typeface="Times New Roman"/>
                <a:cs typeface="Times New Roman"/>
              </a:rPr>
              <a:t>(USA)</a:t>
            </a:r>
            <a:r>
              <a:rPr sz="1900" spc="-20">
                <a:latin typeface="Times New Roman"/>
                <a:cs typeface="Times New Roman"/>
              </a:rPr>
              <a:t> </a:t>
            </a:r>
            <a:r>
              <a:rPr sz="1900">
                <a:latin typeface="Times New Roman"/>
                <a:cs typeface="Times New Roman"/>
              </a:rPr>
              <a:t>and</a:t>
            </a:r>
            <a:r>
              <a:rPr sz="1900" spc="-20">
                <a:latin typeface="Times New Roman"/>
                <a:cs typeface="Times New Roman"/>
              </a:rPr>
              <a:t> </a:t>
            </a:r>
            <a:r>
              <a:rPr sz="1900">
                <a:latin typeface="Times New Roman"/>
                <a:cs typeface="Times New Roman"/>
              </a:rPr>
              <a:t>Volocopter</a:t>
            </a:r>
            <a:r>
              <a:rPr sz="1900" spc="-55">
                <a:latin typeface="Times New Roman"/>
                <a:cs typeface="Times New Roman"/>
              </a:rPr>
              <a:t> </a:t>
            </a:r>
            <a:r>
              <a:rPr sz="1900">
                <a:latin typeface="Times New Roman"/>
                <a:cs typeface="Times New Roman"/>
              </a:rPr>
              <a:t>(Germany)</a:t>
            </a:r>
            <a:r>
              <a:rPr sz="1900" spc="50">
                <a:latin typeface="Times New Roman"/>
                <a:cs typeface="Times New Roman"/>
              </a:rPr>
              <a:t> </a:t>
            </a:r>
            <a:r>
              <a:rPr sz="1900">
                <a:latin typeface="Times New Roman"/>
                <a:cs typeface="Times New Roman"/>
              </a:rPr>
              <a:t>conducted</a:t>
            </a:r>
            <a:r>
              <a:rPr sz="1900" spc="-95">
                <a:latin typeface="Times New Roman"/>
                <a:cs typeface="Times New Roman"/>
              </a:rPr>
              <a:t> </a:t>
            </a:r>
            <a:r>
              <a:rPr sz="1900">
                <a:latin typeface="Times New Roman"/>
                <a:cs typeface="Times New Roman"/>
              </a:rPr>
              <a:t>pilot</a:t>
            </a:r>
            <a:r>
              <a:rPr sz="1900" spc="-55">
                <a:latin typeface="Times New Roman"/>
                <a:cs typeface="Times New Roman"/>
              </a:rPr>
              <a:t> </a:t>
            </a:r>
            <a:r>
              <a:rPr sz="1900" spc="-10">
                <a:latin typeface="Times New Roman"/>
                <a:cs typeface="Times New Roman"/>
              </a:rPr>
              <a:t>eVTOL </a:t>
            </a:r>
            <a:r>
              <a:rPr sz="1900">
                <a:latin typeface="Times New Roman"/>
                <a:cs typeface="Times New Roman"/>
              </a:rPr>
              <a:t>flights,</a:t>
            </a:r>
            <a:r>
              <a:rPr sz="1900" spc="-50">
                <a:latin typeface="Times New Roman"/>
                <a:cs typeface="Times New Roman"/>
              </a:rPr>
              <a:t> </a:t>
            </a:r>
            <a:r>
              <a:rPr sz="1900">
                <a:latin typeface="Times New Roman"/>
                <a:cs typeface="Times New Roman"/>
              </a:rPr>
              <a:t>receiving</a:t>
            </a:r>
            <a:r>
              <a:rPr sz="1900" spc="-45">
                <a:latin typeface="Times New Roman"/>
                <a:cs typeface="Times New Roman"/>
              </a:rPr>
              <a:t> </a:t>
            </a:r>
            <a:r>
              <a:rPr sz="1900">
                <a:latin typeface="Times New Roman"/>
                <a:cs typeface="Times New Roman"/>
              </a:rPr>
              <a:t>early</a:t>
            </a:r>
            <a:r>
              <a:rPr sz="1900" spc="-25">
                <a:latin typeface="Times New Roman"/>
                <a:cs typeface="Times New Roman"/>
              </a:rPr>
              <a:t> </a:t>
            </a:r>
            <a:r>
              <a:rPr sz="1900">
                <a:latin typeface="Times New Roman"/>
                <a:cs typeface="Times New Roman"/>
              </a:rPr>
              <a:t>regulatory</a:t>
            </a:r>
            <a:r>
              <a:rPr sz="1900" spc="-25">
                <a:latin typeface="Times New Roman"/>
                <a:cs typeface="Times New Roman"/>
              </a:rPr>
              <a:t> </a:t>
            </a:r>
            <a:r>
              <a:rPr sz="1900" spc="-10">
                <a:latin typeface="Times New Roman"/>
                <a:cs typeface="Times New Roman"/>
              </a:rPr>
              <a:t>interest.</a:t>
            </a:r>
            <a:endParaRPr sz="1900">
              <a:latin typeface="Times New Roman"/>
              <a:cs typeface="Times New Roman"/>
            </a:endParaRPr>
          </a:p>
          <a:p>
            <a:pPr marL="12700">
              <a:lnSpc>
                <a:spcPct val="100000"/>
              </a:lnSpc>
            </a:pPr>
            <a:r>
              <a:rPr sz="1900" i="1">
                <a:latin typeface="Times New Roman"/>
                <a:cs typeface="Times New Roman"/>
              </a:rPr>
              <a:t>2020</a:t>
            </a:r>
            <a:r>
              <a:rPr sz="1900">
                <a:latin typeface="Times New Roman"/>
                <a:cs typeface="Times New Roman"/>
              </a:rPr>
              <a:t>:</a:t>
            </a:r>
            <a:r>
              <a:rPr sz="1900" spc="-75">
                <a:latin typeface="Times New Roman"/>
                <a:cs typeface="Times New Roman"/>
              </a:rPr>
              <a:t> </a:t>
            </a:r>
            <a:r>
              <a:rPr sz="1900">
                <a:latin typeface="Times New Roman"/>
                <a:cs typeface="Times New Roman"/>
              </a:rPr>
              <a:t>The</a:t>
            </a:r>
            <a:r>
              <a:rPr sz="1900" spc="-10">
                <a:latin typeface="Times New Roman"/>
                <a:cs typeface="Times New Roman"/>
              </a:rPr>
              <a:t> </a:t>
            </a:r>
            <a:r>
              <a:rPr sz="1900">
                <a:latin typeface="Times New Roman"/>
                <a:cs typeface="Times New Roman"/>
              </a:rPr>
              <a:t>FAA</a:t>
            </a:r>
            <a:r>
              <a:rPr sz="1900" spc="15">
                <a:latin typeface="Times New Roman"/>
                <a:cs typeface="Times New Roman"/>
              </a:rPr>
              <a:t> </a:t>
            </a:r>
            <a:r>
              <a:rPr sz="1900">
                <a:latin typeface="Times New Roman"/>
                <a:cs typeface="Times New Roman"/>
              </a:rPr>
              <a:t>in</a:t>
            </a:r>
            <a:r>
              <a:rPr sz="1900" spc="-20">
                <a:latin typeface="Times New Roman"/>
                <a:cs typeface="Times New Roman"/>
              </a:rPr>
              <a:t> </a:t>
            </a:r>
            <a:r>
              <a:rPr sz="1900">
                <a:latin typeface="Times New Roman"/>
                <a:cs typeface="Times New Roman"/>
              </a:rPr>
              <a:t>the</a:t>
            </a:r>
            <a:r>
              <a:rPr sz="1900" spc="-55">
                <a:latin typeface="Times New Roman"/>
                <a:cs typeface="Times New Roman"/>
              </a:rPr>
              <a:t> </a:t>
            </a:r>
            <a:r>
              <a:rPr sz="1900">
                <a:latin typeface="Times New Roman"/>
                <a:cs typeface="Times New Roman"/>
              </a:rPr>
              <a:t>US</a:t>
            </a:r>
            <a:r>
              <a:rPr sz="1900" spc="-30">
                <a:latin typeface="Times New Roman"/>
                <a:cs typeface="Times New Roman"/>
              </a:rPr>
              <a:t> </a:t>
            </a:r>
            <a:r>
              <a:rPr sz="1900">
                <a:latin typeface="Times New Roman"/>
                <a:cs typeface="Times New Roman"/>
              </a:rPr>
              <a:t>granted</a:t>
            </a:r>
            <a:r>
              <a:rPr sz="1900" spc="-20">
                <a:latin typeface="Times New Roman"/>
                <a:cs typeface="Times New Roman"/>
              </a:rPr>
              <a:t> </a:t>
            </a:r>
            <a:r>
              <a:rPr sz="1900">
                <a:latin typeface="Times New Roman"/>
                <a:cs typeface="Times New Roman"/>
              </a:rPr>
              <a:t>Part</a:t>
            </a:r>
            <a:r>
              <a:rPr sz="1900" spc="-35">
                <a:latin typeface="Times New Roman"/>
                <a:cs typeface="Times New Roman"/>
              </a:rPr>
              <a:t> </a:t>
            </a:r>
            <a:r>
              <a:rPr sz="1900">
                <a:latin typeface="Times New Roman"/>
                <a:cs typeface="Times New Roman"/>
              </a:rPr>
              <a:t>135</a:t>
            </a:r>
            <a:r>
              <a:rPr sz="1900" spc="-40">
                <a:latin typeface="Times New Roman"/>
                <a:cs typeface="Times New Roman"/>
              </a:rPr>
              <a:t> </a:t>
            </a:r>
            <a:r>
              <a:rPr sz="1900">
                <a:latin typeface="Times New Roman"/>
                <a:cs typeface="Times New Roman"/>
              </a:rPr>
              <a:t>certification</a:t>
            </a:r>
            <a:r>
              <a:rPr sz="1900" spc="-65">
                <a:latin typeface="Times New Roman"/>
                <a:cs typeface="Times New Roman"/>
              </a:rPr>
              <a:t> </a:t>
            </a:r>
            <a:r>
              <a:rPr sz="1900">
                <a:latin typeface="Times New Roman"/>
                <a:cs typeface="Times New Roman"/>
              </a:rPr>
              <a:t>to</a:t>
            </a:r>
            <a:r>
              <a:rPr sz="1900" spc="-40">
                <a:latin typeface="Times New Roman"/>
                <a:cs typeface="Times New Roman"/>
              </a:rPr>
              <a:t> </a:t>
            </a:r>
            <a:r>
              <a:rPr sz="1900">
                <a:latin typeface="Times New Roman"/>
                <a:cs typeface="Times New Roman"/>
              </a:rPr>
              <a:t>UPS</a:t>
            </a:r>
            <a:r>
              <a:rPr sz="1900" spc="-10">
                <a:latin typeface="Times New Roman"/>
                <a:cs typeface="Times New Roman"/>
              </a:rPr>
              <a:t> </a:t>
            </a:r>
            <a:r>
              <a:rPr sz="1900">
                <a:latin typeface="Times New Roman"/>
                <a:cs typeface="Times New Roman"/>
              </a:rPr>
              <a:t>Flight</a:t>
            </a:r>
            <a:r>
              <a:rPr sz="1900" spc="15">
                <a:latin typeface="Times New Roman"/>
                <a:cs typeface="Times New Roman"/>
              </a:rPr>
              <a:t> </a:t>
            </a:r>
            <a:r>
              <a:rPr sz="1900" spc="-10">
                <a:latin typeface="Times New Roman"/>
                <a:cs typeface="Times New Roman"/>
              </a:rPr>
              <a:t>Forward,</a:t>
            </a:r>
            <a:endParaRPr sz="1900">
              <a:latin typeface="Times New Roman"/>
              <a:cs typeface="Times New Roman"/>
            </a:endParaRPr>
          </a:p>
          <a:p>
            <a:pPr marL="12700">
              <a:lnSpc>
                <a:spcPct val="100000"/>
              </a:lnSpc>
            </a:pPr>
            <a:r>
              <a:rPr sz="1900">
                <a:latin typeface="Times New Roman"/>
                <a:cs typeface="Times New Roman"/>
              </a:rPr>
              <a:t>formally</a:t>
            </a:r>
            <a:r>
              <a:rPr sz="1900" spc="-35">
                <a:latin typeface="Times New Roman"/>
                <a:cs typeface="Times New Roman"/>
              </a:rPr>
              <a:t> </a:t>
            </a:r>
            <a:r>
              <a:rPr sz="1900">
                <a:latin typeface="Times New Roman"/>
                <a:cs typeface="Times New Roman"/>
              </a:rPr>
              <a:t>recognizing</a:t>
            </a:r>
            <a:r>
              <a:rPr sz="1900" spc="-35">
                <a:latin typeface="Times New Roman"/>
                <a:cs typeface="Times New Roman"/>
              </a:rPr>
              <a:t> </a:t>
            </a:r>
            <a:r>
              <a:rPr sz="1900" spc="-10">
                <a:latin typeface="Times New Roman"/>
                <a:cs typeface="Times New Roman"/>
              </a:rPr>
              <a:t>drone-</a:t>
            </a:r>
            <a:r>
              <a:rPr sz="1900">
                <a:latin typeface="Times New Roman"/>
                <a:cs typeface="Times New Roman"/>
              </a:rPr>
              <a:t>based</a:t>
            </a:r>
            <a:r>
              <a:rPr sz="1900" spc="-55">
                <a:latin typeface="Times New Roman"/>
                <a:cs typeface="Times New Roman"/>
              </a:rPr>
              <a:t> </a:t>
            </a:r>
            <a:r>
              <a:rPr sz="1900" spc="-10">
                <a:latin typeface="Times New Roman"/>
                <a:cs typeface="Times New Roman"/>
              </a:rPr>
              <a:t>logistics.</a:t>
            </a:r>
            <a:endParaRPr sz="1900">
              <a:latin typeface="Times New Roman"/>
              <a:cs typeface="Times New Roman"/>
            </a:endParaRPr>
          </a:p>
          <a:p>
            <a:pPr>
              <a:lnSpc>
                <a:spcPct val="100000"/>
              </a:lnSpc>
              <a:spcBef>
                <a:spcPts val="95"/>
              </a:spcBef>
            </a:pPr>
            <a:endParaRPr sz="1900">
              <a:latin typeface="Times New Roman"/>
              <a:cs typeface="Times New Roman"/>
            </a:endParaRPr>
          </a:p>
          <a:p>
            <a:pPr marL="493395" indent="-480695">
              <a:lnSpc>
                <a:spcPct val="100000"/>
              </a:lnSpc>
              <a:buAutoNum type="arabicPeriod" startAt="2"/>
              <a:tabLst>
                <a:tab pos="493395" algn="l"/>
              </a:tabLst>
            </a:pPr>
            <a:r>
              <a:rPr sz="1900" b="1">
                <a:latin typeface="Times New Roman"/>
                <a:cs typeface="Times New Roman"/>
              </a:rPr>
              <a:t>Early</a:t>
            </a:r>
            <a:r>
              <a:rPr sz="1900" b="1" spc="-65">
                <a:latin typeface="Times New Roman"/>
                <a:cs typeface="Times New Roman"/>
              </a:rPr>
              <a:t> </a:t>
            </a:r>
            <a:r>
              <a:rPr sz="1900" b="1">
                <a:latin typeface="Times New Roman"/>
                <a:cs typeface="Times New Roman"/>
              </a:rPr>
              <a:t>Agricultural</a:t>
            </a:r>
            <a:r>
              <a:rPr sz="1900" b="1" spc="-70">
                <a:latin typeface="Times New Roman"/>
                <a:cs typeface="Times New Roman"/>
              </a:rPr>
              <a:t> </a:t>
            </a:r>
            <a:r>
              <a:rPr sz="1900" b="1">
                <a:latin typeface="Times New Roman"/>
                <a:cs typeface="Times New Roman"/>
              </a:rPr>
              <a:t>Applications</a:t>
            </a:r>
            <a:r>
              <a:rPr sz="1900" b="1" spc="-50">
                <a:latin typeface="Times New Roman"/>
                <a:cs typeface="Times New Roman"/>
              </a:rPr>
              <a:t> </a:t>
            </a:r>
            <a:r>
              <a:rPr sz="1900" b="1" spc="-10">
                <a:latin typeface="Times New Roman"/>
                <a:cs typeface="Times New Roman"/>
              </a:rPr>
              <a:t>(2010–2013)</a:t>
            </a:r>
            <a:endParaRPr sz="1900">
              <a:latin typeface="Times New Roman"/>
              <a:cs typeface="Times New Roman"/>
            </a:endParaRPr>
          </a:p>
          <a:p>
            <a:pPr marL="12700" marR="5080">
              <a:lnSpc>
                <a:spcPct val="100000"/>
              </a:lnSpc>
              <a:spcBef>
                <a:spcPts val="5"/>
              </a:spcBef>
            </a:pPr>
            <a:r>
              <a:rPr sz="1900">
                <a:latin typeface="Times New Roman"/>
                <a:cs typeface="Times New Roman"/>
              </a:rPr>
              <a:t>Initial</a:t>
            </a:r>
            <a:r>
              <a:rPr sz="1900" spc="-20">
                <a:latin typeface="Times New Roman"/>
                <a:cs typeface="Times New Roman"/>
              </a:rPr>
              <a:t> </a:t>
            </a:r>
            <a:r>
              <a:rPr sz="1900">
                <a:latin typeface="Times New Roman"/>
                <a:cs typeface="Times New Roman"/>
              </a:rPr>
              <a:t>drone</a:t>
            </a:r>
            <a:r>
              <a:rPr sz="1900" spc="-35">
                <a:latin typeface="Times New Roman"/>
                <a:cs typeface="Times New Roman"/>
              </a:rPr>
              <a:t> </a:t>
            </a:r>
            <a:r>
              <a:rPr sz="1900">
                <a:latin typeface="Times New Roman"/>
                <a:cs typeface="Times New Roman"/>
              </a:rPr>
              <a:t>usage</a:t>
            </a:r>
            <a:r>
              <a:rPr sz="1900" spc="-25">
                <a:latin typeface="Times New Roman"/>
                <a:cs typeface="Times New Roman"/>
              </a:rPr>
              <a:t> </a:t>
            </a:r>
            <a:r>
              <a:rPr sz="1900">
                <a:latin typeface="Times New Roman"/>
                <a:cs typeface="Times New Roman"/>
              </a:rPr>
              <a:t>was</a:t>
            </a:r>
            <a:r>
              <a:rPr sz="1900" spc="-15">
                <a:latin typeface="Times New Roman"/>
                <a:cs typeface="Times New Roman"/>
              </a:rPr>
              <a:t> </a:t>
            </a:r>
            <a:r>
              <a:rPr sz="1900">
                <a:latin typeface="Times New Roman"/>
                <a:cs typeface="Times New Roman"/>
              </a:rPr>
              <a:t>focused</a:t>
            </a:r>
            <a:r>
              <a:rPr sz="1900" spc="-75">
                <a:latin typeface="Times New Roman"/>
                <a:cs typeface="Times New Roman"/>
              </a:rPr>
              <a:t> </a:t>
            </a:r>
            <a:r>
              <a:rPr sz="1900">
                <a:latin typeface="Times New Roman"/>
                <a:cs typeface="Times New Roman"/>
              </a:rPr>
              <a:t>on</a:t>
            </a:r>
            <a:r>
              <a:rPr sz="1900" spc="-25">
                <a:latin typeface="Times New Roman"/>
                <a:cs typeface="Times New Roman"/>
              </a:rPr>
              <a:t> </a:t>
            </a:r>
            <a:r>
              <a:rPr sz="1900">
                <a:latin typeface="Times New Roman"/>
                <a:cs typeface="Times New Roman"/>
              </a:rPr>
              <a:t>agriculture</a:t>
            </a:r>
            <a:r>
              <a:rPr sz="1900" spc="-25">
                <a:latin typeface="Times New Roman"/>
                <a:cs typeface="Times New Roman"/>
              </a:rPr>
              <a:t> </a:t>
            </a:r>
            <a:r>
              <a:rPr sz="1900">
                <a:latin typeface="Times New Roman"/>
                <a:cs typeface="Times New Roman"/>
              </a:rPr>
              <a:t>in</a:t>
            </a:r>
            <a:r>
              <a:rPr sz="1900" spc="-20">
                <a:latin typeface="Times New Roman"/>
                <a:cs typeface="Times New Roman"/>
              </a:rPr>
              <a:t> </a:t>
            </a:r>
            <a:r>
              <a:rPr sz="1900">
                <a:latin typeface="Times New Roman"/>
                <a:cs typeface="Times New Roman"/>
              </a:rPr>
              <a:t>countries</a:t>
            </a:r>
            <a:r>
              <a:rPr sz="1900" spc="-35">
                <a:latin typeface="Times New Roman"/>
                <a:cs typeface="Times New Roman"/>
              </a:rPr>
              <a:t> </a:t>
            </a:r>
            <a:r>
              <a:rPr sz="1900">
                <a:latin typeface="Times New Roman"/>
                <a:cs typeface="Times New Roman"/>
              </a:rPr>
              <a:t>like</a:t>
            </a:r>
            <a:r>
              <a:rPr sz="1900" spc="-20">
                <a:latin typeface="Times New Roman"/>
                <a:cs typeface="Times New Roman"/>
              </a:rPr>
              <a:t> </a:t>
            </a:r>
            <a:r>
              <a:rPr sz="1900">
                <a:latin typeface="Times New Roman"/>
                <a:cs typeface="Times New Roman"/>
              </a:rPr>
              <a:t>Japan</a:t>
            </a:r>
            <a:r>
              <a:rPr sz="1900" spc="-55">
                <a:latin typeface="Times New Roman"/>
                <a:cs typeface="Times New Roman"/>
              </a:rPr>
              <a:t> </a:t>
            </a:r>
            <a:r>
              <a:rPr sz="1900">
                <a:latin typeface="Times New Roman"/>
                <a:cs typeface="Times New Roman"/>
              </a:rPr>
              <a:t>and</a:t>
            </a:r>
            <a:r>
              <a:rPr sz="1900" spc="-30">
                <a:latin typeface="Times New Roman"/>
                <a:cs typeface="Times New Roman"/>
              </a:rPr>
              <a:t> </a:t>
            </a:r>
            <a:r>
              <a:rPr sz="1900" spc="-10">
                <a:latin typeface="Times New Roman"/>
                <a:cs typeface="Times New Roman"/>
              </a:rPr>
              <a:t>China, </a:t>
            </a:r>
            <a:r>
              <a:rPr sz="1900">
                <a:latin typeface="Times New Roman"/>
                <a:cs typeface="Times New Roman"/>
              </a:rPr>
              <a:t>mainly</a:t>
            </a:r>
            <a:r>
              <a:rPr sz="1900" spc="-40">
                <a:latin typeface="Times New Roman"/>
                <a:cs typeface="Times New Roman"/>
              </a:rPr>
              <a:t> </a:t>
            </a:r>
            <a:r>
              <a:rPr sz="1900">
                <a:latin typeface="Times New Roman"/>
                <a:cs typeface="Times New Roman"/>
              </a:rPr>
              <a:t>for</a:t>
            </a:r>
            <a:r>
              <a:rPr sz="1900" spc="-30">
                <a:latin typeface="Times New Roman"/>
                <a:cs typeface="Times New Roman"/>
              </a:rPr>
              <a:t> </a:t>
            </a:r>
            <a:r>
              <a:rPr sz="1900">
                <a:latin typeface="Times New Roman"/>
                <a:cs typeface="Times New Roman"/>
              </a:rPr>
              <a:t>crop</a:t>
            </a:r>
            <a:r>
              <a:rPr sz="1900" spc="-40">
                <a:latin typeface="Times New Roman"/>
                <a:cs typeface="Times New Roman"/>
              </a:rPr>
              <a:t> </a:t>
            </a:r>
            <a:r>
              <a:rPr sz="1900">
                <a:latin typeface="Times New Roman"/>
                <a:cs typeface="Times New Roman"/>
              </a:rPr>
              <a:t>spraying</a:t>
            </a:r>
            <a:r>
              <a:rPr sz="1900" spc="10">
                <a:latin typeface="Times New Roman"/>
                <a:cs typeface="Times New Roman"/>
              </a:rPr>
              <a:t> </a:t>
            </a:r>
            <a:r>
              <a:rPr sz="1900">
                <a:latin typeface="Times New Roman"/>
                <a:cs typeface="Times New Roman"/>
              </a:rPr>
              <a:t>and</a:t>
            </a:r>
            <a:r>
              <a:rPr sz="1900" spc="-40">
                <a:latin typeface="Times New Roman"/>
                <a:cs typeface="Times New Roman"/>
              </a:rPr>
              <a:t> </a:t>
            </a:r>
            <a:r>
              <a:rPr sz="1900">
                <a:latin typeface="Times New Roman"/>
                <a:cs typeface="Times New Roman"/>
              </a:rPr>
              <a:t>pest</a:t>
            </a:r>
            <a:r>
              <a:rPr sz="1900" spc="-40">
                <a:latin typeface="Times New Roman"/>
                <a:cs typeface="Times New Roman"/>
              </a:rPr>
              <a:t> </a:t>
            </a:r>
            <a:r>
              <a:rPr sz="1900">
                <a:latin typeface="Times New Roman"/>
                <a:cs typeface="Times New Roman"/>
              </a:rPr>
              <a:t>control.</a:t>
            </a:r>
            <a:r>
              <a:rPr sz="1900" spc="-65">
                <a:latin typeface="Times New Roman"/>
                <a:cs typeface="Times New Roman"/>
              </a:rPr>
              <a:t> </a:t>
            </a:r>
            <a:r>
              <a:rPr sz="1900">
                <a:latin typeface="Times New Roman"/>
                <a:cs typeface="Times New Roman"/>
              </a:rPr>
              <a:t>Research</a:t>
            </a:r>
            <a:r>
              <a:rPr sz="1900" spc="-40">
                <a:latin typeface="Times New Roman"/>
                <a:cs typeface="Times New Roman"/>
              </a:rPr>
              <a:t> </a:t>
            </a:r>
            <a:r>
              <a:rPr sz="1900">
                <a:latin typeface="Times New Roman"/>
                <a:cs typeface="Times New Roman"/>
              </a:rPr>
              <a:t>highlighted</a:t>
            </a:r>
            <a:r>
              <a:rPr sz="1900" spc="-40">
                <a:latin typeface="Times New Roman"/>
                <a:cs typeface="Times New Roman"/>
              </a:rPr>
              <a:t> </a:t>
            </a:r>
            <a:r>
              <a:rPr sz="1900">
                <a:latin typeface="Times New Roman"/>
                <a:cs typeface="Times New Roman"/>
              </a:rPr>
              <a:t>their</a:t>
            </a:r>
            <a:r>
              <a:rPr sz="1900" spc="-30">
                <a:latin typeface="Times New Roman"/>
                <a:cs typeface="Times New Roman"/>
              </a:rPr>
              <a:t> </a:t>
            </a:r>
            <a:r>
              <a:rPr sz="1900">
                <a:latin typeface="Times New Roman"/>
                <a:cs typeface="Times New Roman"/>
              </a:rPr>
              <a:t>ability</a:t>
            </a:r>
            <a:r>
              <a:rPr sz="1900" spc="-55">
                <a:latin typeface="Times New Roman"/>
                <a:cs typeface="Times New Roman"/>
              </a:rPr>
              <a:t> </a:t>
            </a:r>
            <a:r>
              <a:rPr sz="1900" spc="-25">
                <a:latin typeface="Times New Roman"/>
                <a:cs typeface="Times New Roman"/>
              </a:rPr>
              <a:t>to </a:t>
            </a:r>
            <a:r>
              <a:rPr sz="1900">
                <a:latin typeface="Times New Roman"/>
                <a:cs typeface="Times New Roman"/>
              </a:rPr>
              <a:t>reduce</a:t>
            </a:r>
            <a:r>
              <a:rPr sz="1900" spc="-40">
                <a:latin typeface="Times New Roman"/>
                <a:cs typeface="Times New Roman"/>
              </a:rPr>
              <a:t> </a:t>
            </a:r>
            <a:r>
              <a:rPr sz="1900">
                <a:latin typeface="Times New Roman"/>
                <a:cs typeface="Times New Roman"/>
              </a:rPr>
              <a:t>manual</a:t>
            </a:r>
            <a:r>
              <a:rPr sz="1900" spc="-40">
                <a:latin typeface="Times New Roman"/>
                <a:cs typeface="Times New Roman"/>
              </a:rPr>
              <a:t> </a:t>
            </a:r>
            <a:r>
              <a:rPr sz="1900">
                <a:latin typeface="Times New Roman"/>
                <a:cs typeface="Times New Roman"/>
              </a:rPr>
              <a:t>labor</a:t>
            </a:r>
            <a:r>
              <a:rPr sz="1900" spc="-20">
                <a:latin typeface="Times New Roman"/>
                <a:cs typeface="Times New Roman"/>
              </a:rPr>
              <a:t> </a:t>
            </a:r>
            <a:r>
              <a:rPr sz="1900">
                <a:latin typeface="Times New Roman"/>
                <a:cs typeface="Times New Roman"/>
              </a:rPr>
              <a:t>but</a:t>
            </a:r>
            <a:r>
              <a:rPr sz="1900" spc="-55">
                <a:latin typeface="Times New Roman"/>
                <a:cs typeface="Times New Roman"/>
              </a:rPr>
              <a:t> </a:t>
            </a:r>
            <a:r>
              <a:rPr sz="1900">
                <a:latin typeface="Times New Roman"/>
                <a:cs typeface="Times New Roman"/>
              </a:rPr>
              <a:t>limited</a:t>
            </a:r>
            <a:r>
              <a:rPr sz="1900" spc="-5">
                <a:latin typeface="Times New Roman"/>
                <a:cs typeface="Times New Roman"/>
              </a:rPr>
              <a:t> </a:t>
            </a:r>
            <a:r>
              <a:rPr sz="1900">
                <a:latin typeface="Times New Roman"/>
                <a:cs typeface="Times New Roman"/>
              </a:rPr>
              <a:t>adoption</a:t>
            </a:r>
            <a:r>
              <a:rPr sz="1900" spc="-70">
                <a:latin typeface="Times New Roman"/>
                <a:cs typeface="Times New Roman"/>
              </a:rPr>
              <a:t> </a:t>
            </a:r>
            <a:r>
              <a:rPr sz="1900">
                <a:latin typeface="Times New Roman"/>
                <a:cs typeface="Times New Roman"/>
              </a:rPr>
              <a:t>due</a:t>
            </a:r>
            <a:r>
              <a:rPr sz="1900" spc="-35">
                <a:latin typeface="Times New Roman"/>
                <a:cs typeface="Times New Roman"/>
              </a:rPr>
              <a:t> </a:t>
            </a:r>
            <a:r>
              <a:rPr sz="1900">
                <a:latin typeface="Times New Roman"/>
                <a:cs typeface="Times New Roman"/>
              </a:rPr>
              <a:t>to</a:t>
            </a:r>
            <a:r>
              <a:rPr sz="1900" spc="-20">
                <a:latin typeface="Times New Roman"/>
                <a:cs typeface="Times New Roman"/>
              </a:rPr>
              <a:t> </a:t>
            </a:r>
            <a:r>
              <a:rPr sz="1900">
                <a:latin typeface="Times New Roman"/>
                <a:cs typeface="Times New Roman"/>
              </a:rPr>
              <a:t>high</a:t>
            </a:r>
            <a:r>
              <a:rPr sz="1900" spc="-5">
                <a:latin typeface="Times New Roman"/>
                <a:cs typeface="Times New Roman"/>
              </a:rPr>
              <a:t> </a:t>
            </a:r>
            <a:r>
              <a:rPr sz="1900" spc="-10">
                <a:latin typeface="Times New Roman"/>
                <a:cs typeface="Times New Roman"/>
              </a:rPr>
              <a:t>costs.</a:t>
            </a:r>
            <a:endParaRPr sz="1900">
              <a:latin typeface="Times New Roman"/>
              <a:cs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285"/>
              </a:lnSpc>
            </a:pPr>
            <a:r>
              <a:t>MKCE</a:t>
            </a:r>
            <a:r>
              <a:rPr spc="-10"/>
              <a:t> </a:t>
            </a:r>
            <a:r>
              <a:t>Presentation</a:t>
            </a:r>
            <a:r>
              <a:rPr spc="55"/>
              <a:t> </a:t>
            </a:r>
            <a:r>
              <a:t>Day</a:t>
            </a:r>
            <a:r>
              <a:rPr spc="-15"/>
              <a:t> </a:t>
            </a:r>
            <a:r>
              <a:rPr spc="-10"/>
              <a:t>-</a:t>
            </a:r>
            <a:r>
              <a:rPr spc="-50"/>
              <a:t>I</a:t>
            </a:r>
          </a:p>
        </p:txBody>
      </p:sp>
      <p:sp>
        <p:nvSpPr>
          <p:cNvPr id="5" name="object 5"/>
          <p:cNvSpPr txBox="1"/>
          <p:nvPr/>
        </p:nvSpPr>
        <p:spPr>
          <a:xfrm>
            <a:off x="9147936" y="6861149"/>
            <a:ext cx="169545" cy="184150"/>
          </a:xfrm>
          <a:prstGeom prst="rect">
            <a:avLst/>
          </a:prstGeom>
        </p:spPr>
        <p:txBody>
          <a:bodyPr vert="horz" wrap="square" lIns="0" tIns="0" rIns="0" bIns="0" rtlCol="0">
            <a:spAutoFit/>
          </a:bodyPr>
          <a:lstStyle/>
          <a:p>
            <a:pPr marL="38100">
              <a:lnSpc>
                <a:spcPts val="1285"/>
              </a:lnSpc>
            </a:pPr>
            <a:fld id="{81D60167-4931-47E6-BA6A-407CBD079E47}" type="slidenum">
              <a:rPr sz="1250" spc="-50" dirty="0">
                <a:solidFill>
                  <a:srgbClr val="888888"/>
                </a:solidFill>
                <a:latin typeface="Calibri"/>
                <a:cs typeface="Calibri"/>
              </a:rPr>
              <a:t>4</a:t>
            </a:fld>
            <a:endParaRPr sz="1250">
              <a:latin typeface="Calibri"/>
              <a:cs typeface="Calibri"/>
            </a:endParaRPr>
          </a:p>
        </p:txBody>
      </p:sp>
      <p:sp>
        <p:nvSpPr>
          <p:cNvPr id="2" name="object 2"/>
          <p:cNvSpPr txBox="1">
            <a:spLocks noGrp="1"/>
          </p:cNvSpPr>
          <p:nvPr>
            <p:ph type="title"/>
          </p:nvPr>
        </p:nvSpPr>
        <p:spPr>
          <a:prstGeom prst="rect">
            <a:avLst/>
          </a:prstGeom>
        </p:spPr>
        <p:txBody>
          <a:bodyPr vert="horz" wrap="square" lIns="0" tIns="278764" rIns="0" bIns="0" rtlCol="0">
            <a:spAutoFit/>
          </a:bodyPr>
          <a:lstStyle/>
          <a:p>
            <a:pPr marL="2167890">
              <a:lnSpc>
                <a:spcPct val="100000"/>
              </a:lnSpc>
              <a:spcBef>
                <a:spcPts val="100"/>
              </a:spcBef>
            </a:pPr>
            <a:r>
              <a:rPr spc="-55">
                <a:solidFill>
                  <a:srgbClr val="BE0000"/>
                </a:solidFill>
              </a:rPr>
              <a:t>Literature</a:t>
            </a:r>
            <a:r>
              <a:rPr spc="-114">
                <a:solidFill>
                  <a:srgbClr val="BE0000"/>
                </a:solidFill>
              </a:rPr>
              <a:t> </a:t>
            </a:r>
            <a:r>
              <a:rPr spc="-55">
                <a:solidFill>
                  <a:srgbClr val="BE0000"/>
                </a:solidFill>
              </a:rPr>
              <a:t>background</a:t>
            </a:r>
          </a:p>
        </p:txBody>
      </p:sp>
      <p:sp>
        <p:nvSpPr>
          <p:cNvPr id="3" name="object 3"/>
          <p:cNvSpPr txBox="1"/>
          <p:nvPr/>
        </p:nvSpPr>
        <p:spPr>
          <a:xfrm>
            <a:off x="866952" y="1308354"/>
            <a:ext cx="7748905" cy="4659630"/>
          </a:xfrm>
          <a:prstGeom prst="rect">
            <a:avLst/>
          </a:prstGeom>
        </p:spPr>
        <p:txBody>
          <a:bodyPr vert="horz" wrap="square" lIns="0" tIns="12065" rIns="0" bIns="0" rtlCol="0">
            <a:spAutoFit/>
          </a:bodyPr>
          <a:lstStyle/>
          <a:p>
            <a:pPr marL="373380" indent="-360680" algn="just">
              <a:lnSpc>
                <a:spcPct val="100000"/>
              </a:lnSpc>
              <a:spcBef>
                <a:spcPts val="95"/>
              </a:spcBef>
              <a:buAutoNum type="arabicPeriod" startAt="3"/>
              <a:tabLst>
                <a:tab pos="373380" algn="l"/>
              </a:tabLst>
            </a:pPr>
            <a:r>
              <a:rPr sz="1900" b="1">
                <a:latin typeface="Times New Roman"/>
                <a:cs typeface="Times New Roman"/>
              </a:rPr>
              <a:t>Expansion</a:t>
            </a:r>
            <a:r>
              <a:rPr sz="1900" b="1" spc="-85">
                <a:latin typeface="Times New Roman"/>
                <a:cs typeface="Times New Roman"/>
              </a:rPr>
              <a:t> </a:t>
            </a:r>
            <a:r>
              <a:rPr sz="1900" b="1">
                <a:latin typeface="Times New Roman"/>
                <a:cs typeface="Times New Roman"/>
              </a:rPr>
              <a:t>of</a:t>
            </a:r>
            <a:r>
              <a:rPr sz="1900" b="1" spc="-50">
                <a:latin typeface="Times New Roman"/>
                <a:cs typeface="Times New Roman"/>
              </a:rPr>
              <a:t> </a:t>
            </a:r>
            <a:r>
              <a:rPr sz="1900" b="1">
                <a:latin typeface="Times New Roman"/>
                <a:cs typeface="Times New Roman"/>
              </a:rPr>
              <a:t>E-Commerce</a:t>
            </a:r>
            <a:r>
              <a:rPr sz="1900" b="1" spc="-10">
                <a:latin typeface="Times New Roman"/>
                <a:cs typeface="Times New Roman"/>
              </a:rPr>
              <a:t> </a:t>
            </a:r>
            <a:r>
              <a:rPr sz="1900" b="1">
                <a:latin typeface="Times New Roman"/>
                <a:cs typeface="Times New Roman"/>
              </a:rPr>
              <a:t>&amp;</a:t>
            </a:r>
            <a:r>
              <a:rPr sz="1900" b="1" spc="-35">
                <a:latin typeface="Times New Roman"/>
                <a:cs typeface="Times New Roman"/>
              </a:rPr>
              <a:t> </a:t>
            </a:r>
            <a:r>
              <a:rPr sz="1900" b="1">
                <a:latin typeface="Times New Roman"/>
                <a:cs typeface="Times New Roman"/>
              </a:rPr>
              <a:t>Precision</a:t>
            </a:r>
            <a:r>
              <a:rPr sz="1900" b="1" spc="-65">
                <a:latin typeface="Times New Roman"/>
                <a:cs typeface="Times New Roman"/>
              </a:rPr>
              <a:t> </a:t>
            </a:r>
            <a:r>
              <a:rPr sz="1900" b="1">
                <a:latin typeface="Times New Roman"/>
                <a:cs typeface="Times New Roman"/>
              </a:rPr>
              <a:t>Farming</a:t>
            </a:r>
            <a:r>
              <a:rPr sz="1900" b="1" spc="-5">
                <a:latin typeface="Times New Roman"/>
                <a:cs typeface="Times New Roman"/>
              </a:rPr>
              <a:t> </a:t>
            </a:r>
            <a:r>
              <a:rPr sz="1900" b="1" spc="-10">
                <a:latin typeface="Times New Roman"/>
                <a:cs typeface="Times New Roman"/>
              </a:rPr>
              <a:t>(2020–2022)</a:t>
            </a:r>
            <a:endParaRPr sz="1900">
              <a:latin typeface="Times New Roman"/>
              <a:cs typeface="Times New Roman"/>
            </a:endParaRPr>
          </a:p>
          <a:p>
            <a:pPr marL="12700" marR="64769" algn="just">
              <a:lnSpc>
                <a:spcPct val="100000"/>
              </a:lnSpc>
            </a:pPr>
            <a:r>
              <a:rPr sz="1900">
                <a:latin typeface="Times New Roman"/>
                <a:cs typeface="Times New Roman"/>
              </a:rPr>
              <a:t>Drones</a:t>
            </a:r>
            <a:r>
              <a:rPr sz="1900" spc="-55">
                <a:latin typeface="Times New Roman"/>
                <a:cs typeface="Times New Roman"/>
              </a:rPr>
              <a:t> </a:t>
            </a:r>
            <a:r>
              <a:rPr sz="1900">
                <a:latin typeface="Times New Roman"/>
                <a:cs typeface="Times New Roman"/>
              </a:rPr>
              <a:t>began</a:t>
            </a:r>
            <a:r>
              <a:rPr sz="1900" spc="-25">
                <a:latin typeface="Times New Roman"/>
                <a:cs typeface="Times New Roman"/>
              </a:rPr>
              <a:t> </a:t>
            </a:r>
            <a:r>
              <a:rPr sz="1900">
                <a:latin typeface="Times New Roman"/>
                <a:cs typeface="Times New Roman"/>
              </a:rPr>
              <a:t>playing a</a:t>
            </a:r>
            <a:r>
              <a:rPr sz="1900" spc="-55">
                <a:latin typeface="Times New Roman"/>
                <a:cs typeface="Times New Roman"/>
              </a:rPr>
              <a:t> </a:t>
            </a:r>
            <a:r>
              <a:rPr sz="1900">
                <a:latin typeface="Times New Roman"/>
                <a:cs typeface="Times New Roman"/>
              </a:rPr>
              <a:t>vital</a:t>
            </a:r>
            <a:r>
              <a:rPr sz="1900" spc="-40">
                <a:latin typeface="Times New Roman"/>
                <a:cs typeface="Times New Roman"/>
              </a:rPr>
              <a:t> </a:t>
            </a:r>
            <a:r>
              <a:rPr sz="1900">
                <a:latin typeface="Times New Roman"/>
                <a:cs typeface="Times New Roman"/>
              </a:rPr>
              <a:t>role</a:t>
            </a:r>
            <a:r>
              <a:rPr sz="1900" spc="-35">
                <a:latin typeface="Times New Roman"/>
                <a:cs typeface="Times New Roman"/>
              </a:rPr>
              <a:t> </a:t>
            </a:r>
            <a:r>
              <a:rPr sz="1900">
                <a:latin typeface="Times New Roman"/>
                <a:cs typeface="Times New Roman"/>
              </a:rPr>
              <a:t>in</a:t>
            </a:r>
            <a:r>
              <a:rPr sz="1900" spc="-45">
                <a:latin typeface="Times New Roman"/>
                <a:cs typeface="Times New Roman"/>
              </a:rPr>
              <a:t> </a:t>
            </a:r>
            <a:r>
              <a:rPr sz="1900">
                <a:latin typeface="Times New Roman"/>
                <a:cs typeface="Times New Roman"/>
              </a:rPr>
              <a:t>e-commerce</a:t>
            </a:r>
            <a:r>
              <a:rPr sz="1900" spc="-10">
                <a:latin typeface="Times New Roman"/>
                <a:cs typeface="Times New Roman"/>
              </a:rPr>
              <a:t> </a:t>
            </a:r>
            <a:r>
              <a:rPr sz="1900">
                <a:latin typeface="Times New Roman"/>
                <a:cs typeface="Times New Roman"/>
              </a:rPr>
              <a:t>delivery,</a:t>
            </a:r>
            <a:r>
              <a:rPr sz="1900" spc="20">
                <a:latin typeface="Times New Roman"/>
                <a:cs typeface="Times New Roman"/>
              </a:rPr>
              <a:t> </a:t>
            </a:r>
            <a:r>
              <a:rPr sz="1900">
                <a:latin typeface="Times New Roman"/>
                <a:cs typeface="Times New Roman"/>
              </a:rPr>
              <a:t>with</a:t>
            </a:r>
            <a:r>
              <a:rPr sz="1900" spc="-30">
                <a:latin typeface="Times New Roman"/>
                <a:cs typeface="Times New Roman"/>
              </a:rPr>
              <a:t> </a:t>
            </a:r>
            <a:r>
              <a:rPr sz="1900">
                <a:latin typeface="Times New Roman"/>
                <a:cs typeface="Times New Roman"/>
              </a:rPr>
              <a:t>companies</a:t>
            </a:r>
            <a:r>
              <a:rPr sz="1900" spc="-75">
                <a:latin typeface="Times New Roman"/>
                <a:cs typeface="Times New Roman"/>
              </a:rPr>
              <a:t> </a:t>
            </a:r>
            <a:r>
              <a:rPr sz="1900" spc="-20">
                <a:latin typeface="Times New Roman"/>
                <a:cs typeface="Times New Roman"/>
              </a:rPr>
              <a:t>like </a:t>
            </a:r>
            <a:r>
              <a:rPr sz="1900">
                <a:latin typeface="Times New Roman"/>
                <a:cs typeface="Times New Roman"/>
              </a:rPr>
              <a:t>Amazon</a:t>
            </a:r>
            <a:r>
              <a:rPr sz="1900" spc="-20">
                <a:latin typeface="Times New Roman"/>
                <a:cs typeface="Times New Roman"/>
              </a:rPr>
              <a:t> </a:t>
            </a:r>
            <a:r>
              <a:rPr sz="1900">
                <a:latin typeface="Times New Roman"/>
                <a:cs typeface="Times New Roman"/>
              </a:rPr>
              <a:t>Prime</a:t>
            </a:r>
            <a:r>
              <a:rPr sz="1900" spc="-30">
                <a:latin typeface="Times New Roman"/>
                <a:cs typeface="Times New Roman"/>
              </a:rPr>
              <a:t> </a:t>
            </a:r>
            <a:r>
              <a:rPr sz="1900">
                <a:latin typeface="Times New Roman"/>
                <a:cs typeface="Times New Roman"/>
              </a:rPr>
              <a:t>Air</a:t>
            </a:r>
            <a:r>
              <a:rPr sz="1900" spc="-10">
                <a:latin typeface="Times New Roman"/>
                <a:cs typeface="Times New Roman"/>
              </a:rPr>
              <a:t> </a:t>
            </a:r>
            <a:r>
              <a:rPr sz="1900">
                <a:latin typeface="Times New Roman"/>
                <a:cs typeface="Times New Roman"/>
              </a:rPr>
              <a:t>and</a:t>
            </a:r>
            <a:r>
              <a:rPr sz="1900" spc="-35">
                <a:latin typeface="Times New Roman"/>
                <a:cs typeface="Times New Roman"/>
              </a:rPr>
              <a:t> </a:t>
            </a:r>
            <a:r>
              <a:rPr sz="1900">
                <a:latin typeface="Times New Roman"/>
                <a:cs typeface="Times New Roman"/>
              </a:rPr>
              <a:t>Wing</a:t>
            </a:r>
            <a:r>
              <a:rPr sz="1900" spc="-40">
                <a:latin typeface="Times New Roman"/>
                <a:cs typeface="Times New Roman"/>
              </a:rPr>
              <a:t> </a:t>
            </a:r>
            <a:r>
              <a:rPr sz="1900">
                <a:latin typeface="Times New Roman"/>
                <a:cs typeface="Times New Roman"/>
              </a:rPr>
              <a:t>(Alphabet)</a:t>
            </a:r>
            <a:r>
              <a:rPr sz="1900" spc="-30">
                <a:latin typeface="Times New Roman"/>
                <a:cs typeface="Times New Roman"/>
              </a:rPr>
              <a:t> </a:t>
            </a:r>
            <a:r>
              <a:rPr sz="1900">
                <a:latin typeface="Times New Roman"/>
                <a:cs typeface="Times New Roman"/>
              </a:rPr>
              <a:t>launching</a:t>
            </a:r>
            <a:r>
              <a:rPr sz="1900" spc="-80">
                <a:latin typeface="Times New Roman"/>
                <a:cs typeface="Times New Roman"/>
              </a:rPr>
              <a:t> </a:t>
            </a:r>
            <a:r>
              <a:rPr sz="1900">
                <a:latin typeface="Times New Roman"/>
                <a:cs typeface="Times New Roman"/>
              </a:rPr>
              <a:t>pilot</a:t>
            </a:r>
            <a:r>
              <a:rPr sz="1900" spc="-70">
                <a:latin typeface="Times New Roman"/>
                <a:cs typeface="Times New Roman"/>
              </a:rPr>
              <a:t> </a:t>
            </a:r>
            <a:r>
              <a:rPr sz="1900">
                <a:latin typeface="Times New Roman"/>
                <a:cs typeface="Times New Roman"/>
              </a:rPr>
              <a:t>services</a:t>
            </a:r>
            <a:r>
              <a:rPr sz="1900" spc="-20">
                <a:latin typeface="Times New Roman"/>
                <a:cs typeface="Times New Roman"/>
              </a:rPr>
              <a:t> </a:t>
            </a:r>
            <a:r>
              <a:rPr sz="1900">
                <a:latin typeface="Times New Roman"/>
                <a:cs typeface="Times New Roman"/>
              </a:rPr>
              <a:t>in</a:t>
            </a:r>
            <a:r>
              <a:rPr sz="1900" spc="-20">
                <a:latin typeface="Times New Roman"/>
                <a:cs typeface="Times New Roman"/>
              </a:rPr>
              <a:t> </a:t>
            </a:r>
            <a:r>
              <a:rPr sz="1900">
                <a:latin typeface="Times New Roman"/>
                <a:cs typeface="Times New Roman"/>
              </a:rPr>
              <a:t>the</a:t>
            </a:r>
            <a:r>
              <a:rPr sz="1900" spc="-45">
                <a:latin typeface="Times New Roman"/>
                <a:cs typeface="Times New Roman"/>
              </a:rPr>
              <a:t> </a:t>
            </a:r>
            <a:r>
              <a:rPr sz="1900">
                <a:latin typeface="Times New Roman"/>
                <a:cs typeface="Times New Roman"/>
              </a:rPr>
              <a:t>US</a:t>
            </a:r>
            <a:r>
              <a:rPr sz="1900" spc="-25">
                <a:latin typeface="Times New Roman"/>
                <a:cs typeface="Times New Roman"/>
              </a:rPr>
              <a:t> and </a:t>
            </a:r>
            <a:r>
              <a:rPr sz="1900" spc="-10">
                <a:latin typeface="Times New Roman"/>
                <a:cs typeface="Times New Roman"/>
              </a:rPr>
              <a:t>Europe.</a:t>
            </a:r>
            <a:endParaRPr sz="1900">
              <a:latin typeface="Times New Roman"/>
              <a:cs typeface="Times New Roman"/>
            </a:endParaRPr>
          </a:p>
          <a:p>
            <a:pPr marL="12700" algn="just">
              <a:lnSpc>
                <a:spcPct val="100000"/>
              </a:lnSpc>
            </a:pPr>
            <a:r>
              <a:rPr sz="1900">
                <a:latin typeface="Times New Roman"/>
                <a:cs typeface="Times New Roman"/>
              </a:rPr>
              <a:t>In agriculture,</a:t>
            </a:r>
            <a:r>
              <a:rPr sz="1900" spc="-25">
                <a:latin typeface="Times New Roman"/>
                <a:cs typeface="Times New Roman"/>
              </a:rPr>
              <a:t> </a:t>
            </a:r>
            <a:r>
              <a:rPr sz="1900">
                <a:latin typeface="Times New Roman"/>
                <a:cs typeface="Times New Roman"/>
              </a:rPr>
              <a:t>drones</a:t>
            </a:r>
            <a:r>
              <a:rPr sz="1900" spc="-70">
                <a:latin typeface="Times New Roman"/>
                <a:cs typeface="Times New Roman"/>
              </a:rPr>
              <a:t> </a:t>
            </a:r>
            <a:r>
              <a:rPr sz="1900">
                <a:latin typeface="Times New Roman"/>
                <a:cs typeface="Times New Roman"/>
              </a:rPr>
              <a:t>with</a:t>
            </a:r>
            <a:r>
              <a:rPr sz="1900" spc="-25">
                <a:latin typeface="Times New Roman"/>
                <a:cs typeface="Times New Roman"/>
              </a:rPr>
              <a:t> </a:t>
            </a:r>
            <a:r>
              <a:rPr sz="1900">
                <a:latin typeface="Times New Roman"/>
                <a:cs typeface="Times New Roman"/>
              </a:rPr>
              <a:t>multispectral</a:t>
            </a:r>
            <a:r>
              <a:rPr sz="1900" spc="-55">
                <a:latin typeface="Times New Roman"/>
                <a:cs typeface="Times New Roman"/>
              </a:rPr>
              <a:t> </a:t>
            </a:r>
            <a:r>
              <a:rPr sz="1900">
                <a:latin typeface="Times New Roman"/>
                <a:cs typeface="Times New Roman"/>
              </a:rPr>
              <a:t>and</a:t>
            </a:r>
            <a:r>
              <a:rPr sz="1900" spc="-60">
                <a:latin typeface="Times New Roman"/>
                <a:cs typeface="Times New Roman"/>
              </a:rPr>
              <a:t> </a:t>
            </a:r>
            <a:r>
              <a:rPr sz="1900">
                <a:latin typeface="Times New Roman"/>
                <a:cs typeface="Times New Roman"/>
              </a:rPr>
              <a:t>thermal</a:t>
            </a:r>
            <a:r>
              <a:rPr sz="1900" spc="-35">
                <a:latin typeface="Times New Roman"/>
                <a:cs typeface="Times New Roman"/>
              </a:rPr>
              <a:t> </a:t>
            </a:r>
            <a:r>
              <a:rPr sz="1900">
                <a:latin typeface="Times New Roman"/>
                <a:cs typeface="Times New Roman"/>
              </a:rPr>
              <a:t>cameras</a:t>
            </a:r>
            <a:r>
              <a:rPr sz="1900" spc="-5">
                <a:latin typeface="Times New Roman"/>
                <a:cs typeface="Times New Roman"/>
              </a:rPr>
              <a:t> </a:t>
            </a:r>
            <a:r>
              <a:rPr sz="1900">
                <a:latin typeface="Times New Roman"/>
                <a:cs typeface="Times New Roman"/>
              </a:rPr>
              <a:t>allowed</a:t>
            </a:r>
            <a:r>
              <a:rPr sz="1900" spc="-65">
                <a:latin typeface="Times New Roman"/>
                <a:cs typeface="Times New Roman"/>
              </a:rPr>
              <a:t> </a:t>
            </a:r>
            <a:r>
              <a:rPr sz="1900" spc="-10">
                <a:latin typeface="Times New Roman"/>
                <a:cs typeface="Times New Roman"/>
              </a:rPr>
              <a:t>precision</a:t>
            </a:r>
            <a:endParaRPr sz="1900">
              <a:latin typeface="Times New Roman"/>
              <a:cs typeface="Times New Roman"/>
            </a:endParaRPr>
          </a:p>
          <a:p>
            <a:pPr marL="12700" algn="just">
              <a:lnSpc>
                <a:spcPct val="100000"/>
              </a:lnSpc>
              <a:spcBef>
                <a:spcPts val="5"/>
              </a:spcBef>
            </a:pPr>
            <a:r>
              <a:rPr sz="1900" spc="-20">
                <a:latin typeface="Times New Roman"/>
                <a:cs typeface="Times New Roman"/>
              </a:rPr>
              <a:t>farming—</a:t>
            </a:r>
            <a:r>
              <a:rPr sz="1900">
                <a:latin typeface="Times New Roman"/>
                <a:cs typeface="Times New Roman"/>
              </a:rPr>
              <a:t>monitoring</a:t>
            </a:r>
            <a:r>
              <a:rPr sz="1900" spc="-30">
                <a:latin typeface="Times New Roman"/>
                <a:cs typeface="Times New Roman"/>
              </a:rPr>
              <a:t> </a:t>
            </a:r>
            <a:r>
              <a:rPr sz="1900">
                <a:latin typeface="Times New Roman"/>
                <a:cs typeface="Times New Roman"/>
              </a:rPr>
              <a:t>crop</a:t>
            </a:r>
            <a:r>
              <a:rPr sz="1900" spc="-25">
                <a:latin typeface="Times New Roman"/>
                <a:cs typeface="Times New Roman"/>
              </a:rPr>
              <a:t> </a:t>
            </a:r>
            <a:r>
              <a:rPr sz="1900">
                <a:latin typeface="Times New Roman"/>
                <a:cs typeface="Times New Roman"/>
              </a:rPr>
              <a:t>health,</a:t>
            </a:r>
            <a:r>
              <a:rPr sz="1900" spc="-30">
                <a:latin typeface="Times New Roman"/>
                <a:cs typeface="Times New Roman"/>
              </a:rPr>
              <a:t> </a:t>
            </a:r>
            <a:r>
              <a:rPr sz="1900">
                <a:latin typeface="Times New Roman"/>
                <a:cs typeface="Times New Roman"/>
              </a:rPr>
              <a:t>soil</a:t>
            </a:r>
            <a:r>
              <a:rPr sz="1900" spc="-35">
                <a:latin typeface="Times New Roman"/>
                <a:cs typeface="Times New Roman"/>
              </a:rPr>
              <a:t> </a:t>
            </a:r>
            <a:r>
              <a:rPr sz="1900">
                <a:latin typeface="Times New Roman"/>
                <a:cs typeface="Times New Roman"/>
              </a:rPr>
              <a:t>conditions,</a:t>
            </a:r>
            <a:r>
              <a:rPr sz="1900" spc="-105">
                <a:latin typeface="Times New Roman"/>
                <a:cs typeface="Times New Roman"/>
              </a:rPr>
              <a:t> </a:t>
            </a:r>
            <a:r>
              <a:rPr sz="1900">
                <a:latin typeface="Times New Roman"/>
                <a:cs typeface="Times New Roman"/>
              </a:rPr>
              <a:t>and</a:t>
            </a:r>
            <a:r>
              <a:rPr sz="1900" spc="-25">
                <a:latin typeface="Times New Roman"/>
                <a:cs typeface="Times New Roman"/>
              </a:rPr>
              <a:t> </a:t>
            </a:r>
            <a:r>
              <a:rPr sz="1900">
                <a:latin typeface="Times New Roman"/>
                <a:cs typeface="Times New Roman"/>
              </a:rPr>
              <a:t>yield</a:t>
            </a:r>
            <a:r>
              <a:rPr sz="1900" spc="35">
                <a:latin typeface="Times New Roman"/>
                <a:cs typeface="Times New Roman"/>
              </a:rPr>
              <a:t> </a:t>
            </a:r>
            <a:r>
              <a:rPr sz="1900" spc="-10">
                <a:latin typeface="Times New Roman"/>
                <a:cs typeface="Times New Roman"/>
              </a:rPr>
              <a:t>predictions.</a:t>
            </a:r>
            <a:endParaRPr sz="1900">
              <a:latin typeface="Times New Roman"/>
              <a:cs typeface="Times New Roman"/>
            </a:endParaRPr>
          </a:p>
          <a:p>
            <a:pPr>
              <a:lnSpc>
                <a:spcPct val="100000"/>
              </a:lnSpc>
              <a:spcBef>
                <a:spcPts val="95"/>
              </a:spcBef>
            </a:pPr>
            <a:endParaRPr sz="1900">
              <a:latin typeface="Times New Roman"/>
              <a:cs typeface="Times New Roman"/>
            </a:endParaRPr>
          </a:p>
          <a:p>
            <a:pPr marL="374015" indent="-361315">
              <a:lnSpc>
                <a:spcPct val="100000"/>
              </a:lnSpc>
              <a:buAutoNum type="arabicPeriod" startAt="4"/>
              <a:tabLst>
                <a:tab pos="374015" algn="l"/>
              </a:tabLst>
            </a:pPr>
            <a:r>
              <a:rPr sz="1900" b="1">
                <a:latin typeface="Times New Roman"/>
                <a:cs typeface="Times New Roman"/>
              </a:rPr>
              <a:t>Commercial</a:t>
            </a:r>
            <a:r>
              <a:rPr sz="1900" b="1" spc="-55">
                <a:latin typeface="Times New Roman"/>
                <a:cs typeface="Times New Roman"/>
              </a:rPr>
              <a:t> </a:t>
            </a:r>
            <a:r>
              <a:rPr sz="1900" b="1">
                <a:latin typeface="Times New Roman"/>
                <a:cs typeface="Times New Roman"/>
              </a:rPr>
              <a:t>Deployments</a:t>
            </a:r>
            <a:r>
              <a:rPr sz="1900" b="1" spc="-50">
                <a:latin typeface="Times New Roman"/>
                <a:cs typeface="Times New Roman"/>
              </a:rPr>
              <a:t> </a:t>
            </a:r>
            <a:r>
              <a:rPr sz="1900" b="1">
                <a:latin typeface="Times New Roman"/>
                <a:cs typeface="Times New Roman"/>
              </a:rPr>
              <a:t>and</a:t>
            </a:r>
            <a:r>
              <a:rPr sz="1900" b="1" spc="-70">
                <a:latin typeface="Times New Roman"/>
                <a:cs typeface="Times New Roman"/>
              </a:rPr>
              <a:t> </a:t>
            </a:r>
            <a:r>
              <a:rPr sz="1900" b="1">
                <a:latin typeface="Times New Roman"/>
                <a:cs typeface="Times New Roman"/>
              </a:rPr>
              <a:t>Regulation</a:t>
            </a:r>
            <a:r>
              <a:rPr sz="1900" b="1" spc="-90">
                <a:latin typeface="Times New Roman"/>
                <a:cs typeface="Times New Roman"/>
              </a:rPr>
              <a:t> </a:t>
            </a:r>
            <a:r>
              <a:rPr sz="1900" b="1" spc="-10">
                <a:latin typeface="Times New Roman"/>
                <a:cs typeface="Times New Roman"/>
              </a:rPr>
              <a:t>(2023–2025)</a:t>
            </a:r>
            <a:endParaRPr sz="1900">
              <a:latin typeface="Times New Roman"/>
              <a:cs typeface="Times New Roman"/>
            </a:endParaRPr>
          </a:p>
          <a:p>
            <a:pPr marL="12700">
              <a:lnSpc>
                <a:spcPct val="100000"/>
              </a:lnSpc>
            </a:pPr>
            <a:r>
              <a:rPr sz="1900" i="1">
                <a:latin typeface="Times New Roman"/>
                <a:cs typeface="Times New Roman"/>
              </a:rPr>
              <a:t>2023</a:t>
            </a:r>
            <a:r>
              <a:rPr sz="1900">
                <a:latin typeface="Times New Roman"/>
                <a:cs typeface="Times New Roman"/>
              </a:rPr>
              <a:t>:</a:t>
            </a:r>
            <a:r>
              <a:rPr sz="1900" spc="-60">
                <a:latin typeface="Times New Roman"/>
                <a:cs typeface="Times New Roman"/>
              </a:rPr>
              <a:t> </a:t>
            </a:r>
            <a:r>
              <a:rPr sz="1900">
                <a:latin typeface="Times New Roman"/>
                <a:cs typeface="Times New Roman"/>
              </a:rPr>
              <a:t>Walmart</a:t>
            </a:r>
            <a:r>
              <a:rPr sz="1900" spc="10">
                <a:latin typeface="Times New Roman"/>
                <a:cs typeface="Times New Roman"/>
              </a:rPr>
              <a:t> </a:t>
            </a:r>
            <a:r>
              <a:rPr sz="1900">
                <a:latin typeface="Times New Roman"/>
                <a:cs typeface="Times New Roman"/>
              </a:rPr>
              <a:t>and</a:t>
            </a:r>
            <a:r>
              <a:rPr sz="1900" spc="-25">
                <a:latin typeface="Times New Roman"/>
                <a:cs typeface="Times New Roman"/>
              </a:rPr>
              <a:t> </a:t>
            </a:r>
            <a:r>
              <a:rPr sz="1900">
                <a:latin typeface="Times New Roman"/>
                <a:cs typeface="Times New Roman"/>
              </a:rPr>
              <a:t>Wing</a:t>
            </a:r>
            <a:r>
              <a:rPr sz="1900" spc="-30">
                <a:latin typeface="Times New Roman"/>
                <a:cs typeface="Times New Roman"/>
              </a:rPr>
              <a:t> </a:t>
            </a:r>
            <a:r>
              <a:rPr sz="1900">
                <a:latin typeface="Times New Roman"/>
                <a:cs typeface="Times New Roman"/>
              </a:rPr>
              <a:t>scaled</a:t>
            </a:r>
            <a:r>
              <a:rPr sz="1900" spc="-25">
                <a:latin typeface="Times New Roman"/>
                <a:cs typeface="Times New Roman"/>
              </a:rPr>
              <a:t> </a:t>
            </a:r>
            <a:r>
              <a:rPr sz="1900">
                <a:latin typeface="Times New Roman"/>
                <a:cs typeface="Times New Roman"/>
              </a:rPr>
              <a:t>up</a:t>
            </a:r>
            <a:r>
              <a:rPr sz="1900" spc="-25">
                <a:latin typeface="Times New Roman"/>
                <a:cs typeface="Times New Roman"/>
              </a:rPr>
              <a:t> </a:t>
            </a:r>
            <a:r>
              <a:rPr sz="1900" spc="-10">
                <a:latin typeface="Times New Roman"/>
                <a:cs typeface="Times New Roman"/>
              </a:rPr>
              <a:t>drone-</a:t>
            </a:r>
            <a:r>
              <a:rPr sz="1900">
                <a:latin typeface="Times New Roman"/>
                <a:cs typeface="Times New Roman"/>
              </a:rPr>
              <a:t>based</a:t>
            </a:r>
            <a:r>
              <a:rPr sz="1900" spc="-50">
                <a:latin typeface="Times New Roman"/>
                <a:cs typeface="Times New Roman"/>
              </a:rPr>
              <a:t> </a:t>
            </a:r>
            <a:r>
              <a:rPr sz="1900">
                <a:latin typeface="Times New Roman"/>
                <a:cs typeface="Times New Roman"/>
              </a:rPr>
              <a:t>retail</a:t>
            </a:r>
            <a:r>
              <a:rPr sz="1900" spc="-15">
                <a:latin typeface="Times New Roman"/>
                <a:cs typeface="Times New Roman"/>
              </a:rPr>
              <a:t> </a:t>
            </a:r>
            <a:r>
              <a:rPr sz="1900">
                <a:latin typeface="Times New Roman"/>
                <a:cs typeface="Times New Roman"/>
              </a:rPr>
              <a:t>delivery</a:t>
            </a:r>
            <a:r>
              <a:rPr sz="1900" spc="-25">
                <a:latin typeface="Times New Roman"/>
                <a:cs typeface="Times New Roman"/>
              </a:rPr>
              <a:t> </a:t>
            </a:r>
            <a:r>
              <a:rPr sz="1900">
                <a:latin typeface="Times New Roman"/>
                <a:cs typeface="Times New Roman"/>
              </a:rPr>
              <a:t>in</a:t>
            </a:r>
            <a:r>
              <a:rPr sz="1900" spc="-10">
                <a:latin typeface="Times New Roman"/>
                <a:cs typeface="Times New Roman"/>
              </a:rPr>
              <a:t> </a:t>
            </a:r>
            <a:r>
              <a:rPr sz="1900">
                <a:latin typeface="Times New Roman"/>
                <a:cs typeface="Times New Roman"/>
              </a:rPr>
              <a:t>the</a:t>
            </a:r>
            <a:r>
              <a:rPr sz="1900" spc="-40">
                <a:latin typeface="Times New Roman"/>
                <a:cs typeface="Times New Roman"/>
              </a:rPr>
              <a:t> </a:t>
            </a:r>
            <a:r>
              <a:rPr sz="1900" spc="-25">
                <a:latin typeface="Times New Roman"/>
                <a:cs typeface="Times New Roman"/>
              </a:rPr>
              <a:t>US,</a:t>
            </a:r>
            <a:endParaRPr sz="1900">
              <a:latin typeface="Times New Roman"/>
              <a:cs typeface="Times New Roman"/>
            </a:endParaRPr>
          </a:p>
          <a:p>
            <a:pPr marL="12700">
              <a:lnSpc>
                <a:spcPct val="100000"/>
              </a:lnSpc>
              <a:spcBef>
                <a:spcPts val="5"/>
              </a:spcBef>
            </a:pPr>
            <a:r>
              <a:rPr sz="1900">
                <a:latin typeface="Times New Roman"/>
                <a:cs typeface="Times New Roman"/>
              </a:rPr>
              <a:t>reaching</a:t>
            </a:r>
            <a:r>
              <a:rPr sz="1900" spc="-30">
                <a:latin typeface="Times New Roman"/>
                <a:cs typeface="Times New Roman"/>
              </a:rPr>
              <a:t> </a:t>
            </a:r>
            <a:r>
              <a:rPr sz="1900">
                <a:latin typeface="Times New Roman"/>
                <a:cs typeface="Times New Roman"/>
              </a:rPr>
              <a:t>thousands</a:t>
            </a:r>
            <a:r>
              <a:rPr sz="1900" spc="-85">
                <a:latin typeface="Times New Roman"/>
                <a:cs typeface="Times New Roman"/>
              </a:rPr>
              <a:t> </a:t>
            </a:r>
            <a:r>
              <a:rPr sz="1900">
                <a:latin typeface="Times New Roman"/>
                <a:cs typeface="Times New Roman"/>
              </a:rPr>
              <a:t>of</a:t>
            </a:r>
            <a:r>
              <a:rPr sz="1900" spc="-20">
                <a:latin typeface="Times New Roman"/>
                <a:cs typeface="Times New Roman"/>
              </a:rPr>
              <a:t> </a:t>
            </a:r>
            <a:r>
              <a:rPr sz="1900" spc="-10">
                <a:latin typeface="Times New Roman"/>
                <a:cs typeface="Times New Roman"/>
              </a:rPr>
              <a:t>households.</a:t>
            </a:r>
            <a:endParaRPr sz="1900">
              <a:latin typeface="Times New Roman"/>
              <a:cs typeface="Times New Roman"/>
            </a:endParaRPr>
          </a:p>
          <a:p>
            <a:pPr marL="12700">
              <a:lnSpc>
                <a:spcPct val="100000"/>
              </a:lnSpc>
            </a:pPr>
            <a:r>
              <a:rPr sz="1900" i="1">
                <a:latin typeface="Times New Roman"/>
                <a:cs typeface="Times New Roman"/>
              </a:rPr>
              <a:t>2024</a:t>
            </a:r>
            <a:r>
              <a:rPr sz="1900">
                <a:latin typeface="Times New Roman"/>
                <a:cs typeface="Times New Roman"/>
              </a:rPr>
              <a:t>:</a:t>
            </a:r>
            <a:r>
              <a:rPr sz="1900" spc="-85">
                <a:latin typeface="Times New Roman"/>
                <a:cs typeface="Times New Roman"/>
              </a:rPr>
              <a:t> </a:t>
            </a:r>
            <a:r>
              <a:rPr sz="1900">
                <a:latin typeface="Times New Roman"/>
                <a:cs typeface="Times New Roman"/>
              </a:rPr>
              <a:t>India</a:t>
            </a:r>
            <a:r>
              <a:rPr sz="1900" spc="-40">
                <a:latin typeface="Times New Roman"/>
                <a:cs typeface="Times New Roman"/>
              </a:rPr>
              <a:t> </a:t>
            </a:r>
            <a:r>
              <a:rPr sz="1900">
                <a:latin typeface="Times New Roman"/>
                <a:cs typeface="Times New Roman"/>
              </a:rPr>
              <a:t>approved</a:t>
            </a:r>
            <a:r>
              <a:rPr sz="1900" spc="-55">
                <a:latin typeface="Times New Roman"/>
                <a:cs typeface="Times New Roman"/>
              </a:rPr>
              <a:t> </a:t>
            </a:r>
            <a:r>
              <a:rPr sz="1900">
                <a:latin typeface="Times New Roman"/>
                <a:cs typeface="Times New Roman"/>
              </a:rPr>
              <a:t>DGCA</a:t>
            </a:r>
            <a:r>
              <a:rPr sz="1900" spc="-10">
                <a:latin typeface="Times New Roman"/>
                <a:cs typeface="Times New Roman"/>
              </a:rPr>
              <a:t> </a:t>
            </a:r>
            <a:r>
              <a:rPr sz="1900">
                <a:latin typeface="Times New Roman"/>
                <a:cs typeface="Times New Roman"/>
              </a:rPr>
              <a:t>guidelines</a:t>
            </a:r>
            <a:r>
              <a:rPr sz="1900" spc="-75">
                <a:latin typeface="Times New Roman"/>
                <a:cs typeface="Times New Roman"/>
              </a:rPr>
              <a:t> </a:t>
            </a:r>
            <a:r>
              <a:rPr sz="1900">
                <a:latin typeface="Times New Roman"/>
                <a:cs typeface="Times New Roman"/>
              </a:rPr>
              <a:t>for</a:t>
            </a:r>
            <a:r>
              <a:rPr sz="1900" spc="-70">
                <a:latin typeface="Times New Roman"/>
                <a:cs typeface="Times New Roman"/>
              </a:rPr>
              <a:t> </a:t>
            </a:r>
            <a:r>
              <a:rPr sz="1900">
                <a:latin typeface="Times New Roman"/>
                <a:cs typeface="Times New Roman"/>
              </a:rPr>
              <a:t>agricultural</a:t>
            </a:r>
            <a:r>
              <a:rPr sz="1900" spc="-40">
                <a:latin typeface="Times New Roman"/>
                <a:cs typeface="Times New Roman"/>
              </a:rPr>
              <a:t> </a:t>
            </a:r>
            <a:r>
              <a:rPr sz="1900">
                <a:latin typeface="Times New Roman"/>
                <a:cs typeface="Times New Roman"/>
              </a:rPr>
              <a:t>drone</a:t>
            </a:r>
            <a:r>
              <a:rPr sz="1900" spc="-60">
                <a:latin typeface="Times New Roman"/>
                <a:cs typeface="Times New Roman"/>
              </a:rPr>
              <a:t> </a:t>
            </a:r>
            <a:r>
              <a:rPr sz="1900">
                <a:latin typeface="Times New Roman"/>
                <a:cs typeface="Times New Roman"/>
              </a:rPr>
              <a:t>spraying,</a:t>
            </a:r>
            <a:r>
              <a:rPr sz="1900" spc="5">
                <a:latin typeface="Times New Roman"/>
                <a:cs typeface="Times New Roman"/>
              </a:rPr>
              <a:t> </a:t>
            </a:r>
            <a:r>
              <a:rPr sz="1900" spc="-10">
                <a:latin typeface="Times New Roman"/>
                <a:cs typeface="Times New Roman"/>
              </a:rPr>
              <a:t>making</a:t>
            </a:r>
            <a:endParaRPr sz="1900">
              <a:latin typeface="Times New Roman"/>
              <a:cs typeface="Times New Roman"/>
            </a:endParaRPr>
          </a:p>
          <a:p>
            <a:pPr marL="12700">
              <a:lnSpc>
                <a:spcPct val="100000"/>
              </a:lnSpc>
            </a:pPr>
            <a:r>
              <a:rPr sz="1900">
                <a:latin typeface="Times New Roman"/>
                <a:cs typeface="Times New Roman"/>
              </a:rPr>
              <a:t>drone</a:t>
            </a:r>
            <a:r>
              <a:rPr sz="1900" spc="-40">
                <a:latin typeface="Times New Roman"/>
                <a:cs typeface="Times New Roman"/>
              </a:rPr>
              <a:t> </a:t>
            </a:r>
            <a:r>
              <a:rPr sz="1900">
                <a:latin typeface="Times New Roman"/>
                <a:cs typeface="Times New Roman"/>
              </a:rPr>
              <a:t>services</a:t>
            </a:r>
            <a:r>
              <a:rPr sz="1900" spc="-25">
                <a:latin typeface="Times New Roman"/>
                <a:cs typeface="Times New Roman"/>
              </a:rPr>
              <a:t> </a:t>
            </a:r>
            <a:r>
              <a:rPr sz="1900">
                <a:latin typeface="Times New Roman"/>
                <a:cs typeface="Times New Roman"/>
              </a:rPr>
              <a:t>more</a:t>
            </a:r>
            <a:r>
              <a:rPr sz="1900" spc="-20">
                <a:latin typeface="Times New Roman"/>
                <a:cs typeface="Times New Roman"/>
              </a:rPr>
              <a:t> </a:t>
            </a:r>
            <a:r>
              <a:rPr sz="1900">
                <a:latin typeface="Times New Roman"/>
                <a:cs typeface="Times New Roman"/>
              </a:rPr>
              <a:t>accessible</a:t>
            </a:r>
            <a:r>
              <a:rPr sz="1900" spc="-60">
                <a:latin typeface="Times New Roman"/>
                <a:cs typeface="Times New Roman"/>
              </a:rPr>
              <a:t> </a:t>
            </a:r>
            <a:r>
              <a:rPr sz="1900">
                <a:latin typeface="Times New Roman"/>
                <a:cs typeface="Times New Roman"/>
              </a:rPr>
              <a:t>to</a:t>
            </a:r>
            <a:r>
              <a:rPr sz="1900" spc="-15">
                <a:latin typeface="Times New Roman"/>
                <a:cs typeface="Times New Roman"/>
              </a:rPr>
              <a:t> </a:t>
            </a:r>
            <a:r>
              <a:rPr sz="1900">
                <a:latin typeface="Times New Roman"/>
                <a:cs typeface="Times New Roman"/>
              </a:rPr>
              <a:t>small</a:t>
            </a:r>
            <a:r>
              <a:rPr sz="1900" spc="-40">
                <a:latin typeface="Times New Roman"/>
                <a:cs typeface="Times New Roman"/>
              </a:rPr>
              <a:t> </a:t>
            </a:r>
            <a:r>
              <a:rPr sz="1900" spc="-10">
                <a:latin typeface="Times New Roman"/>
                <a:cs typeface="Times New Roman"/>
              </a:rPr>
              <a:t>farmers.</a:t>
            </a:r>
            <a:endParaRPr sz="1900">
              <a:latin typeface="Times New Roman"/>
              <a:cs typeface="Times New Roman"/>
            </a:endParaRPr>
          </a:p>
          <a:p>
            <a:pPr marL="12700" marR="5080">
              <a:lnSpc>
                <a:spcPct val="100000"/>
              </a:lnSpc>
            </a:pPr>
            <a:r>
              <a:rPr sz="1900" i="1">
                <a:latin typeface="Times New Roman"/>
                <a:cs typeface="Times New Roman"/>
              </a:rPr>
              <a:t>2025</a:t>
            </a:r>
            <a:r>
              <a:rPr sz="1900">
                <a:latin typeface="Times New Roman"/>
                <a:cs typeface="Times New Roman"/>
              </a:rPr>
              <a:t>:</a:t>
            </a:r>
            <a:r>
              <a:rPr sz="1900" spc="-70">
                <a:latin typeface="Times New Roman"/>
                <a:cs typeface="Times New Roman"/>
              </a:rPr>
              <a:t> </a:t>
            </a:r>
            <a:r>
              <a:rPr sz="1900">
                <a:latin typeface="Times New Roman"/>
                <a:cs typeface="Times New Roman"/>
              </a:rPr>
              <a:t>Dubai</a:t>
            </a:r>
            <a:r>
              <a:rPr sz="1900" spc="-40">
                <a:latin typeface="Times New Roman"/>
                <a:cs typeface="Times New Roman"/>
              </a:rPr>
              <a:t> </a:t>
            </a:r>
            <a:r>
              <a:rPr sz="1900">
                <a:latin typeface="Times New Roman"/>
                <a:cs typeface="Times New Roman"/>
              </a:rPr>
              <a:t>launched</a:t>
            </a:r>
            <a:r>
              <a:rPr sz="1900" spc="-60">
                <a:latin typeface="Times New Roman"/>
                <a:cs typeface="Times New Roman"/>
              </a:rPr>
              <a:t> </a:t>
            </a:r>
            <a:r>
              <a:rPr sz="1900">
                <a:latin typeface="Times New Roman"/>
                <a:cs typeface="Times New Roman"/>
              </a:rPr>
              <a:t>the</a:t>
            </a:r>
            <a:r>
              <a:rPr sz="1900" spc="-40">
                <a:latin typeface="Times New Roman"/>
                <a:cs typeface="Times New Roman"/>
              </a:rPr>
              <a:t> </a:t>
            </a:r>
            <a:r>
              <a:rPr sz="1900">
                <a:latin typeface="Times New Roman"/>
                <a:cs typeface="Times New Roman"/>
              </a:rPr>
              <a:t>world’s</a:t>
            </a:r>
            <a:r>
              <a:rPr sz="1900" spc="-40">
                <a:latin typeface="Times New Roman"/>
                <a:cs typeface="Times New Roman"/>
              </a:rPr>
              <a:t> </a:t>
            </a:r>
            <a:r>
              <a:rPr sz="1900">
                <a:latin typeface="Times New Roman"/>
                <a:cs typeface="Times New Roman"/>
              </a:rPr>
              <a:t>first</a:t>
            </a:r>
            <a:r>
              <a:rPr sz="1900" spc="-40">
                <a:latin typeface="Times New Roman"/>
                <a:cs typeface="Times New Roman"/>
              </a:rPr>
              <a:t> </a:t>
            </a:r>
            <a:r>
              <a:rPr sz="1900">
                <a:latin typeface="Times New Roman"/>
                <a:cs typeface="Times New Roman"/>
              </a:rPr>
              <a:t>commercial</a:t>
            </a:r>
            <a:r>
              <a:rPr sz="1900" spc="-25">
                <a:latin typeface="Times New Roman"/>
                <a:cs typeface="Times New Roman"/>
              </a:rPr>
              <a:t> </a:t>
            </a:r>
            <a:r>
              <a:rPr sz="1900">
                <a:latin typeface="Times New Roman"/>
                <a:cs typeface="Times New Roman"/>
              </a:rPr>
              <a:t>aerial</a:t>
            </a:r>
            <a:r>
              <a:rPr sz="1900" spc="-25">
                <a:latin typeface="Times New Roman"/>
                <a:cs typeface="Times New Roman"/>
              </a:rPr>
              <a:t> </a:t>
            </a:r>
            <a:r>
              <a:rPr sz="1900">
                <a:latin typeface="Times New Roman"/>
                <a:cs typeface="Times New Roman"/>
              </a:rPr>
              <a:t>taxi</a:t>
            </a:r>
            <a:r>
              <a:rPr sz="1900" spc="-15">
                <a:latin typeface="Times New Roman"/>
                <a:cs typeface="Times New Roman"/>
              </a:rPr>
              <a:t> </a:t>
            </a:r>
            <a:r>
              <a:rPr sz="1900">
                <a:latin typeface="Times New Roman"/>
                <a:cs typeface="Times New Roman"/>
              </a:rPr>
              <a:t>service</a:t>
            </a:r>
            <a:r>
              <a:rPr sz="1900" spc="-30">
                <a:latin typeface="Times New Roman"/>
                <a:cs typeface="Times New Roman"/>
              </a:rPr>
              <a:t> </a:t>
            </a:r>
            <a:r>
              <a:rPr sz="1900" spc="-10">
                <a:latin typeface="Times New Roman"/>
                <a:cs typeface="Times New Roman"/>
              </a:rPr>
              <a:t>(Joby </a:t>
            </a:r>
            <a:r>
              <a:rPr sz="1900">
                <a:latin typeface="Times New Roman"/>
                <a:cs typeface="Times New Roman"/>
              </a:rPr>
              <a:t>Aviation),</a:t>
            </a:r>
            <a:r>
              <a:rPr sz="1900" spc="-25">
                <a:latin typeface="Times New Roman"/>
                <a:cs typeface="Times New Roman"/>
              </a:rPr>
              <a:t> </a:t>
            </a:r>
            <a:r>
              <a:rPr sz="1900">
                <a:latin typeface="Times New Roman"/>
                <a:cs typeface="Times New Roman"/>
              </a:rPr>
              <a:t>while</a:t>
            </a:r>
            <a:r>
              <a:rPr sz="1900" spc="-50">
                <a:latin typeface="Times New Roman"/>
                <a:cs typeface="Times New Roman"/>
              </a:rPr>
              <a:t> </a:t>
            </a:r>
            <a:r>
              <a:rPr sz="1900">
                <a:latin typeface="Times New Roman"/>
                <a:cs typeface="Times New Roman"/>
              </a:rPr>
              <a:t>Bangalore,</a:t>
            </a:r>
            <a:r>
              <a:rPr sz="1900" spc="-45">
                <a:latin typeface="Times New Roman"/>
                <a:cs typeface="Times New Roman"/>
              </a:rPr>
              <a:t> </a:t>
            </a:r>
            <a:r>
              <a:rPr sz="1900">
                <a:latin typeface="Times New Roman"/>
                <a:cs typeface="Times New Roman"/>
              </a:rPr>
              <a:t>India,</a:t>
            </a:r>
            <a:r>
              <a:rPr sz="1900" spc="-20">
                <a:latin typeface="Times New Roman"/>
                <a:cs typeface="Times New Roman"/>
              </a:rPr>
              <a:t> </a:t>
            </a:r>
            <a:r>
              <a:rPr sz="1900">
                <a:latin typeface="Times New Roman"/>
                <a:cs typeface="Times New Roman"/>
              </a:rPr>
              <a:t>introduced</a:t>
            </a:r>
            <a:r>
              <a:rPr sz="1900" spc="-60">
                <a:latin typeface="Times New Roman"/>
                <a:cs typeface="Times New Roman"/>
              </a:rPr>
              <a:t> </a:t>
            </a:r>
            <a:r>
              <a:rPr sz="1900">
                <a:latin typeface="Times New Roman"/>
                <a:cs typeface="Times New Roman"/>
              </a:rPr>
              <a:t>its</a:t>
            </a:r>
            <a:r>
              <a:rPr sz="1900" spc="-50">
                <a:latin typeface="Times New Roman"/>
                <a:cs typeface="Times New Roman"/>
              </a:rPr>
              <a:t> </a:t>
            </a:r>
            <a:r>
              <a:rPr sz="1900">
                <a:latin typeface="Times New Roman"/>
                <a:cs typeface="Times New Roman"/>
              </a:rPr>
              <a:t>first</a:t>
            </a:r>
            <a:r>
              <a:rPr sz="1900" spc="-25">
                <a:latin typeface="Times New Roman"/>
                <a:cs typeface="Times New Roman"/>
              </a:rPr>
              <a:t> </a:t>
            </a:r>
            <a:r>
              <a:rPr sz="1900">
                <a:latin typeface="Times New Roman"/>
                <a:cs typeface="Times New Roman"/>
              </a:rPr>
              <a:t>drone-based</a:t>
            </a:r>
            <a:r>
              <a:rPr sz="1900" spc="-60">
                <a:latin typeface="Times New Roman"/>
                <a:cs typeface="Times New Roman"/>
              </a:rPr>
              <a:t> </a:t>
            </a:r>
            <a:r>
              <a:rPr sz="1900">
                <a:latin typeface="Times New Roman"/>
                <a:cs typeface="Times New Roman"/>
              </a:rPr>
              <a:t>medicine</a:t>
            </a:r>
            <a:r>
              <a:rPr sz="1900" spc="-50">
                <a:latin typeface="Times New Roman"/>
                <a:cs typeface="Times New Roman"/>
              </a:rPr>
              <a:t> </a:t>
            </a:r>
            <a:r>
              <a:rPr sz="1900" spc="-25">
                <a:latin typeface="Times New Roman"/>
                <a:cs typeface="Times New Roman"/>
              </a:rPr>
              <a:t>and </a:t>
            </a:r>
            <a:r>
              <a:rPr sz="1900">
                <a:latin typeface="Times New Roman"/>
                <a:cs typeface="Times New Roman"/>
              </a:rPr>
              <a:t>grocery</a:t>
            </a:r>
            <a:r>
              <a:rPr sz="1900" spc="-45">
                <a:latin typeface="Times New Roman"/>
                <a:cs typeface="Times New Roman"/>
              </a:rPr>
              <a:t> </a:t>
            </a:r>
            <a:r>
              <a:rPr sz="1900">
                <a:latin typeface="Times New Roman"/>
                <a:cs typeface="Times New Roman"/>
              </a:rPr>
              <a:t>delivery</a:t>
            </a:r>
            <a:r>
              <a:rPr sz="1900" spc="-40">
                <a:latin typeface="Times New Roman"/>
                <a:cs typeface="Times New Roman"/>
              </a:rPr>
              <a:t> </a:t>
            </a:r>
            <a:r>
              <a:rPr sz="1900">
                <a:latin typeface="Times New Roman"/>
                <a:cs typeface="Times New Roman"/>
              </a:rPr>
              <a:t>network</a:t>
            </a:r>
            <a:r>
              <a:rPr sz="1900" spc="-55">
                <a:latin typeface="Times New Roman"/>
                <a:cs typeface="Times New Roman"/>
              </a:rPr>
              <a:t> </a:t>
            </a:r>
            <a:r>
              <a:rPr sz="1900">
                <a:latin typeface="Times New Roman"/>
                <a:cs typeface="Times New Roman"/>
              </a:rPr>
              <a:t>through</a:t>
            </a:r>
            <a:r>
              <a:rPr sz="1900" spc="-60">
                <a:latin typeface="Times New Roman"/>
                <a:cs typeface="Times New Roman"/>
              </a:rPr>
              <a:t> </a:t>
            </a:r>
            <a:r>
              <a:rPr sz="1900">
                <a:latin typeface="Times New Roman"/>
                <a:cs typeface="Times New Roman"/>
              </a:rPr>
              <a:t>Skye</a:t>
            </a:r>
            <a:r>
              <a:rPr sz="1900" spc="35">
                <a:latin typeface="Times New Roman"/>
                <a:cs typeface="Times New Roman"/>
              </a:rPr>
              <a:t> </a:t>
            </a:r>
            <a:r>
              <a:rPr sz="1900">
                <a:latin typeface="Times New Roman"/>
                <a:cs typeface="Times New Roman"/>
              </a:rPr>
              <a:t>Air,</a:t>
            </a:r>
            <a:r>
              <a:rPr sz="1900" spc="-45">
                <a:latin typeface="Times New Roman"/>
                <a:cs typeface="Times New Roman"/>
              </a:rPr>
              <a:t> </a:t>
            </a:r>
            <a:r>
              <a:rPr sz="1900">
                <a:latin typeface="Times New Roman"/>
                <a:cs typeface="Times New Roman"/>
              </a:rPr>
              <a:t>marking</a:t>
            </a:r>
            <a:r>
              <a:rPr sz="1900" spc="-35">
                <a:latin typeface="Times New Roman"/>
                <a:cs typeface="Times New Roman"/>
              </a:rPr>
              <a:t> </a:t>
            </a:r>
            <a:r>
              <a:rPr sz="1900">
                <a:latin typeface="Times New Roman"/>
                <a:cs typeface="Times New Roman"/>
              </a:rPr>
              <a:t>a</a:t>
            </a:r>
            <a:r>
              <a:rPr sz="1900" spc="-55">
                <a:latin typeface="Times New Roman"/>
                <a:cs typeface="Times New Roman"/>
              </a:rPr>
              <a:t> </a:t>
            </a:r>
            <a:r>
              <a:rPr sz="1900">
                <a:latin typeface="Times New Roman"/>
                <a:cs typeface="Times New Roman"/>
              </a:rPr>
              <a:t>major</a:t>
            </a:r>
            <a:r>
              <a:rPr sz="1900" spc="-75">
                <a:latin typeface="Times New Roman"/>
                <a:cs typeface="Times New Roman"/>
              </a:rPr>
              <a:t> </a:t>
            </a:r>
            <a:r>
              <a:rPr sz="1900">
                <a:latin typeface="Times New Roman"/>
                <a:cs typeface="Times New Roman"/>
              </a:rPr>
              <a:t>step</a:t>
            </a:r>
            <a:r>
              <a:rPr sz="1900" spc="-60">
                <a:latin typeface="Times New Roman"/>
                <a:cs typeface="Times New Roman"/>
              </a:rPr>
              <a:t> </a:t>
            </a:r>
            <a:r>
              <a:rPr sz="1900" spc="-10">
                <a:latin typeface="Times New Roman"/>
                <a:cs typeface="Times New Roman"/>
              </a:rPr>
              <a:t>toward </a:t>
            </a:r>
            <a:r>
              <a:rPr sz="1900">
                <a:latin typeface="Times New Roman"/>
                <a:cs typeface="Times New Roman"/>
              </a:rPr>
              <a:t>mainstream</a:t>
            </a:r>
            <a:r>
              <a:rPr sz="1900" spc="-65">
                <a:latin typeface="Times New Roman"/>
                <a:cs typeface="Times New Roman"/>
              </a:rPr>
              <a:t> </a:t>
            </a:r>
            <a:r>
              <a:rPr sz="1900" spc="-10">
                <a:latin typeface="Times New Roman"/>
                <a:cs typeface="Times New Roman"/>
              </a:rPr>
              <a:t>adoption.</a:t>
            </a:r>
            <a:endParaRPr sz="1900">
              <a:latin typeface="Times New Roman"/>
              <a:cs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43077" rIns="0" bIns="0" rtlCol="0">
            <a:spAutoFit/>
          </a:bodyPr>
          <a:lstStyle/>
          <a:p>
            <a:pPr marL="969644">
              <a:lnSpc>
                <a:spcPct val="100000"/>
              </a:lnSpc>
              <a:spcBef>
                <a:spcPts val="95"/>
              </a:spcBef>
            </a:pPr>
            <a:r>
              <a:rPr sz="4250" b="0" spc="110">
                <a:solidFill>
                  <a:srgbClr val="4E6028"/>
                </a:solidFill>
                <a:latin typeface="Times New Roman"/>
                <a:cs typeface="Times New Roman"/>
              </a:rPr>
              <a:t>SCOPE</a:t>
            </a:r>
            <a:r>
              <a:rPr sz="4250" b="0" spc="155">
                <a:solidFill>
                  <a:srgbClr val="4E6028"/>
                </a:solidFill>
                <a:latin typeface="Times New Roman"/>
                <a:cs typeface="Times New Roman"/>
              </a:rPr>
              <a:t> </a:t>
            </a:r>
            <a:r>
              <a:rPr sz="4250" b="0" spc="195">
                <a:solidFill>
                  <a:srgbClr val="4E6028"/>
                </a:solidFill>
                <a:latin typeface="Times New Roman"/>
                <a:cs typeface="Times New Roman"/>
              </a:rPr>
              <a:t>AND</a:t>
            </a:r>
            <a:r>
              <a:rPr sz="4250" b="0" spc="409">
                <a:solidFill>
                  <a:srgbClr val="4E6028"/>
                </a:solidFill>
                <a:latin typeface="Times New Roman"/>
                <a:cs typeface="Times New Roman"/>
              </a:rPr>
              <a:t> </a:t>
            </a:r>
            <a:r>
              <a:rPr sz="4250" b="0" spc="90">
                <a:solidFill>
                  <a:srgbClr val="FF0000"/>
                </a:solidFill>
                <a:latin typeface="Times New Roman"/>
                <a:cs typeface="Times New Roman"/>
              </a:rPr>
              <a:t>OBJECTIVES</a:t>
            </a:r>
            <a:endParaRPr sz="4250">
              <a:latin typeface="Times New Roman"/>
              <a:cs typeface="Times New Roman"/>
            </a:endParaRPr>
          </a:p>
        </p:txBody>
      </p:sp>
      <p:sp>
        <p:nvSpPr>
          <p:cNvPr id="8" name="object 8"/>
          <p:cNvSpPr txBox="1">
            <a:spLocks noGrp="1"/>
          </p:cNvSpPr>
          <p:nvPr>
            <p:ph type="body" idx="1"/>
          </p:nvPr>
        </p:nvSpPr>
        <p:spPr>
          <a:xfrm>
            <a:off x="557313" y="1007246"/>
            <a:ext cx="8675395" cy="4809393"/>
          </a:xfrm>
          <a:prstGeom prst="rect">
            <a:avLst/>
          </a:prstGeom>
        </p:spPr>
        <p:txBody>
          <a:bodyPr vert="horz" wrap="square" lIns="0" tIns="373760" rIns="0" bIns="0" rtlCol="0">
            <a:spAutoFit/>
          </a:bodyPr>
          <a:lstStyle/>
          <a:p>
            <a:pPr marL="859790" indent="-344170">
              <a:lnSpc>
                <a:spcPct val="100000"/>
              </a:lnSpc>
              <a:spcBef>
                <a:spcPts val="5"/>
              </a:spcBef>
              <a:buFont typeface="Arial MT"/>
              <a:buChar char="•"/>
              <a:tabLst>
                <a:tab pos="860425" algn="l"/>
              </a:tabLst>
            </a:pPr>
            <a:endParaRPr lang="en-US" sz="2000"/>
          </a:p>
          <a:p>
            <a:pPr marL="515620" algn="l">
              <a:spcBef>
                <a:spcPts val="5"/>
              </a:spcBef>
              <a:tabLst>
                <a:tab pos="860425" algn="l"/>
              </a:tabLst>
            </a:pPr>
            <a:r>
              <a:rPr lang="en-IN" sz="1900"/>
              <a:t>The scope of this project focuses on the </a:t>
            </a:r>
            <a:r>
              <a:rPr lang="en-IN" sz="1900" b="1"/>
              <a:t>design, development, and implementation of a drone-based system for honey harvesting</a:t>
            </a:r>
            <a:r>
              <a:rPr lang="en-IN" sz="1900"/>
              <a:t>. The project explores how unmanned aerial vehicles (UAVs) can be utilized to monitor bee colonies, assess honey readiness, and assist in the extraction process with minimal disturbance to the bees. It covers the integration of sensors, imaging systems, and automation technologies to ensure efficient and sustainable honey collection.</a:t>
            </a:r>
          </a:p>
          <a:p>
            <a:pPr marL="515620">
              <a:lnSpc>
                <a:spcPct val="100000"/>
              </a:lnSpc>
              <a:spcBef>
                <a:spcPts val="5"/>
              </a:spcBef>
              <a:tabLst>
                <a:tab pos="860425" algn="l"/>
              </a:tabLst>
            </a:pPr>
            <a:endParaRPr lang="en-IN" sz="2000"/>
          </a:p>
          <a:p>
            <a:pPr marL="800100" lvl="1" indent="-342900" algn="l" fontAlgn="base">
              <a:buFont typeface="Arial" panose="020B0604020202020204" pitchFamily="34" charset="0"/>
              <a:buChar char="•"/>
            </a:pPr>
            <a:r>
              <a:rPr lang="en-IN" sz="1900" b="1"/>
              <a:t>To design and develop</a:t>
            </a:r>
            <a:r>
              <a:rPr lang="en-IN" sz="1900"/>
              <a:t> a drone prototype capable of safely approaching beehives and performing honey-harvesting tasks.</a:t>
            </a:r>
          </a:p>
          <a:p>
            <a:pPr marL="800100" lvl="1" indent="-342900" algn="l" fontAlgn="base">
              <a:buFont typeface="Arial" panose="020B0604020202020204" pitchFamily="34" charset="0"/>
              <a:buChar char="•"/>
            </a:pPr>
            <a:r>
              <a:rPr lang="en-IN" sz="1900" b="1"/>
              <a:t>To minimize human interference and bee disturbance</a:t>
            </a:r>
            <a:r>
              <a:rPr lang="en-IN" sz="1900"/>
              <a:t> during the honey collection process.</a:t>
            </a:r>
          </a:p>
          <a:p>
            <a:pPr marL="800100" lvl="1" indent="-342900" algn="l" fontAlgn="base">
              <a:buFont typeface="Arial" panose="020B0604020202020204" pitchFamily="34" charset="0"/>
              <a:buChar char="•"/>
            </a:pPr>
            <a:r>
              <a:rPr lang="en-IN" sz="1900" b="1"/>
              <a:t>To evaluate the efficiency and accuracy</a:t>
            </a:r>
            <a:r>
              <a:rPr lang="en-IN" sz="1900"/>
              <a:t> of drone-assisted honey harvesting compared to manual methods.</a:t>
            </a:r>
          </a:p>
          <a:p>
            <a:pPr marL="515620" algn="l">
              <a:lnSpc>
                <a:spcPct val="100000"/>
              </a:lnSpc>
              <a:spcBef>
                <a:spcPts val="5"/>
              </a:spcBef>
              <a:tabLst>
                <a:tab pos="860425" algn="l"/>
              </a:tabLst>
            </a:pPr>
            <a:endParaRPr lang="en-IN" sz="2000"/>
          </a:p>
        </p:txBody>
      </p:sp>
      <p:sp>
        <p:nvSpPr>
          <p:cNvPr id="9" name="object 9"/>
          <p:cNvSpPr txBox="1">
            <a:spLocks noGrp="1"/>
          </p:cNvSpPr>
          <p:nvPr>
            <p:ph type="ftr" sz="quarter" idx="5"/>
          </p:nvPr>
        </p:nvSpPr>
        <p:spPr>
          <a:prstGeom prst="rect">
            <a:avLst/>
          </a:prstGeom>
        </p:spPr>
        <p:txBody>
          <a:bodyPr vert="horz" wrap="square" lIns="0" tIns="0" rIns="0" bIns="0" rtlCol="0">
            <a:spAutoFit/>
          </a:bodyPr>
          <a:lstStyle/>
          <a:p>
            <a:pPr marL="12700">
              <a:lnSpc>
                <a:spcPts val="1285"/>
              </a:lnSpc>
            </a:pPr>
            <a:r>
              <a:t>MKCE</a:t>
            </a:r>
            <a:r>
              <a:rPr spc="-10"/>
              <a:t> </a:t>
            </a:r>
            <a:r>
              <a:t>Presentation</a:t>
            </a:r>
            <a:r>
              <a:rPr spc="55"/>
              <a:t> </a:t>
            </a:r>
            <a:r>
              <a:t>Day</a:t>
            </a:r>
            <a:r>
              <a:rPr spc="-15"/>
              <a:t> </a:t>
            </a:r>
            <a:r>
              <a:rPr spc="-10"/>
              <a:t>-</a:t>
            </a:r>
            <a:r>
              <a:rPr spc="-50"/>
              <a:t>I</a:t>
            </a:r>
          </a:p>
        </p:txBody>
      </p:sp>
      <p:sp>
        <p:nvSpPr>
          <p:cNvPr id="10" name="object 10"/>
          <p:cNvSpPr txBox="1"/>
          <p:nvPr/>
        </p:nvSpPr>
        <p:spPr>
          <a:xfrm>
            <a:off x="9147936" y="6861149"/>
            <a:ext cx="169545" cy="184150"/>
          </a:xfrm>
          <a:prstGeom prst="rect">
            <a:avLst/>
          </a:prstGeom>
        </p:spPr>
        <p:txBody>
          <a:bodyPr vert="horz" wrap="square" lIns="0" tIns="0" rIns="0" bIns="0" rtlCol="0">
            <a:spAutoFit/>
          </a:bodyPr>
          <a:lstStyle/>
          <a:p>
            <a:pPr marL="38100">
              <a:lnSpc>
                <a:spcPts val="1285"/>
              </a:lnSpc>
            </a:pPr>
            <a:fld id="{81D60167-4931-47E6-BA6A-407CBD079E47}" type="slidenum">
              <a:rPr sz="1250" spc="-50" dirty="0">
                <a:solidFill>
                  <a:srgbClr val="888888"/>
                </a:solidFill>
                <a:latin typeface="Calibri"/>
                <a:cs typeface="Calibri"/>
              </a:rPr>
              <a:t>5</a:t>
            </a:fld>
            <a:endParaRPr sz="1250">
              <a:latin typeface="Calibri"/>
              <a:cs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285"/>
              </a:lnSpc>
            </a:pPr>
            <a:r>
              <a:t>MKCE</a:t>
            </a:r>
            <a:r>
              <a:rPr spc="-10"/>
              <a:t> </a:t>
            </a:r>
            <a:r>
              <a:t>Presentation</a:t>
            </a:r>
            <a:r>
              <a:rPr spc="55"/>
              <a:t> </a:t>
            </a:r>
            <a:r>
              <a:t>Day</a:t>
            </a:r>
            <a:r>
              <a:rPr spc="-15"/>
              <a:t> </a:t>
            </a:r>
            <a:r>
              <a:rPr spc="-10"/>
              <a:t>-</a:t>
            </a:r>
            <a:r>
              <a:rPr spc="-50"/>
              <a:t>I</a:t>
            </a:r>
          </a:p>
        </p:txBody>
      </p:sp>
      <p:sp>
        <p:nvSpPr>
          <p:cNvPr id="5" name="object 5"/>
          <p:cNvSpPr txBox="1"/>
          <p:nvPr/>
        </p:nvSpPr>
        <p:spPr>
          <a:xfrm>
            <a:off x="9173336" y="6861149"/>
            <a:ext cx="106045" cy="184150"/>
          </a:xfrm>
          <a:prstGeom prst="rect">
            <a:avLst/>
          </a:prstGeom>
        </p:spPr>
        <p:txBody>
          <a:bodyPr vert="horz" wrap="square" lIns="0" tIns="0" rIns="0" bIns="0" rtlCol="0">
            <a:spAutoFit/>
          </a:bodyPr>
          <a:lstStyle/>
          <a:p>
            <a:pPr marL="12700">
              <a:lnSpc>
                <a:spcPts val="1285"/>
              </a:lnSpc>
            </a:pPr>
            <a:r>
              <a:rPr sz="1250" spc="-50">
                <a:solidFill>
                  <a:srgbClr val="888888"/>
                </a:solidFill>
                <a:latin typeface="Calibri"/>
                <a:cs typeface="Calibri"/>
              </a:rPr>
              <a:t>6</a:t>
            </a:r>
            <a:endParaRPr sz="1250">
              <a:latin typeface="Calibri"/>
              <a:cs typeface="Calibri"/>
            </a:endParaRPr>
          </a:p>
        </p:txBody>
      </p:sp>
      <p:sp>
        <p:nvSpPr>
          <p:cNvPr id="2" name="object 2"/>
          <p:cNvSpPr txBox="1">
            <a:spLocks noGrp="1"/>
          </p:cNvSpPr>
          <p:nvPr>
            <p:ph type="title"/>
          </p:nvPr>
        </p:nvSpPr>
        <p:spPr>
          <a:prstGeom prst="rect">
            <a:avLst/>
          </a:prstGeom>
        </p:spPr>
        <p:txBody>
          <a:bodyPr vert="horz" wrap="square" lIns="0" tIns="182422" rIns="0" bIns="0" rtlCol="0">
            <a:spAutoFit/>
          </a:bodyPr>
          <a:lstStyle/>
          <a:p>
            <a:pPr marL="1616075">
              <a:lnSpc>
                <a:spcPct val="100000"/>
              </a:lnSpc>
              <a:spcBef>
                <a:spcPts val="105"/>
              </a:spcBef>
            </a:pPr>
            <a:r>
              <a:rPr sz="3400" b="0" spc="190">
                <a:solidFill>
                  <a:srgbClr val="C10D28"/>
                </a:solidFill>
                <a:latin typeface="Times New Roman"/>
                <a:cs typeface="Times New Roman"/>
              </a:rPr>
              <a:t>EXPERIMENT</a:t>
            </a:r>
            <a:r>
              <a:rPr sz="3400" b="0" spc="245">
                <a:solidFill>
                  <a:srgbClr val="C10D28"/>
                </a:solidFill>
                <a:latin typeface="Times New Roman"/>
                <a:cs typeface="Times New Roman"/>
              </a:rPr>
              <a:t> </a:t>
            </a:r>
            <a:r>
              <a:rPr sz="3400" b="0" spc="160">
                <a:solidFill>
                  <a:srgbClr val="C10D28"/>
                </a:solidFill>
                <a:latin typeface="Times New Roman"/>
                <a:cs typeface="Times New Roman"/>
              </a:rPr>
              <a:t>WORK</a:t>
            </a:r>
            <a:endParaRPr sz="3400">
              <a:latin typeface="Times New Roman"/>
              <a:cs typeface="Times New Roman"/>
            </a:endParaRPr>
          </a:p>
        </p:txBody>
      </p:sp>
      <p:sp>
        <p:nvSpPr>
          <p:cNvPr id="9" name="Rectangle 2">
            <a:extLst>
              <a:ext uri="{FF2B5EF4-FFF2-40B4-BE49-F238E27FC236}">
                <a16:creationId xmlns:a16="http://schemas.microsoft.com/office/drawing/2014/main" id="{6AA4736C-3C65-86EF-E93E-085FBD032C66}"/>
              </a:ext>
            </a:extLst>
          </p:cNvPr>
          <p:cNvSpPr>
            <a:spLocks noChangeArrowheads="1"/>
          </p:cNvSpPr>
          <p:nvPr/>
        </p:nvSpPr>
        <p:spPr bwMode="auto">
          <a:xfrm rot="10800000">
            <a:off x="1620126" y="4779821"/>
            <a:ext cx="6610981"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1" algn="l" rtl="0" eaLnBrk="0" fontAlgn="base" hangingPunct="0">
              <a:spcBef>
                <a:spcPct val="0"/>
              </a:spcBef>
              <a:spcAft>
                <a:spcPct val="0"/>
              </a:spcAft>
              <a:buFontTx/>
              <a:buChar char="•"/>
            </a:pPr>
            <a:endParaRPr kumimoji="0" lang="en-US" altLang="en-US" sz="1900" b="0" i="0" u="none" strike="noStrike" cap="none" normalizeH="0" baseline="0">
              <a:ln>
                <a:noFill/>
              </a:ln>
              <a:solidFill>
                <a:schemeClr val="tx1"/>
              </a:solidFill>
              <a:effectLst/>
              <a:latin typeface="Times New Roman" panose="02020603050405020304" pitchFamily="18" charset="0"/>
              <a:ea typeface="Tahoma" panose="020B0604030504040204" pitchFamily="34" charset="0"/>
              <a:cs typeface="Times New Roman" panose="02020603050405020304" pitchFamily="18" charset="0"/>
            </a:endParaRPr>
          </a:p>
        </p:txBody>
      </p:sp>
      <p:sp>
        <p:nvSpPr>
          <p:cNvPr id="12" name="Rectangle 5">
            <a:extLst>
              <a:ext uri="{FF2B5EF4-FFF2-40B4-BE49-F238E27FC236}">
                <a16:creationId xmlns:a16="http://schemas.microsoft.com/office/drawing/2014/main" id="{0EA93D94-ECDD-7010-7699-F99C9FFB39A7}"/>
              </a:ext>
            </a:extLst>
          </p:cNvPr>
          <p:cNvSpPr>
            <a:spLocks noChangeArrowheads="1"/>
          </p:cNvSpPr>
          <p:nvPr/>
        </p:nvSpPr>
        <p:spPr bwMode="auto">
          <a:xfrm>
            <a:off x="960415" y="2642613"/>
            <a:ext cx="7930401" cy="21390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9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A drone prototype with sensors and a honey collection arm was developed.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9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The drone was tested on beehives under controlled conditions.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9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It identified honey-ready cells using a camera and sensors.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9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Honey was extracted using a robotic arm without disturbing the bees.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9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Data collected: honey quantity, time taken, battery use, bee reaction.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9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Results compared with manual honey harvesting.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9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Performance evaluated for efficiency, safety, and bee disturbance.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285"/>
              </a:lnSpc>
            </a:pPr>
            <a:r>
              <a:t>MKCE</a:t>
            </a:r>
            <a:r>
              <a:rPr spc="-10"/>
              <a:t> </a:t>
            </a:r>
            <a:r>
              <a:t>Presentation</a:t>
            </a:r>
            <a:r>
              <a:rPr spc="55"/>
              <a:t> </a:t>
            </a:r>
            <a:r>
              <a:t>Day</a:t>
            </a:r>
            <a:r>
              <a:rPr spc="-15"/>
              <a:t> </a:t>
            </a:r>
            <a:r>
              <a:rPr spc="-10"/>
              <a:t>-</a:t>
            </a:r>
            <a:r>
              <a:rPr spc="-50"/>
              <a:t>I</a:t>
            </a:r>
          </a:p>
        </p:txBody>
      </p:sp>
      <p:sp>
        <p:nvSpPr>
          <p:cNvPr id="5" name="object 5"/>
          <p:cNvSpPr txBox="1"/>
          <p:nvPr/>
        </p:nvSpPr>
        <p:spPr>
          <a:xfrm>
            <a:off x="9173336" y="6861149"/>
            <a:ext cx="106045" cy="184150"/>
          </a:xfrm>
          <a:prstGeom prst="rect">
            <a:avLst/>
          </a:prstGeom>
        </p:spPr>
        <p:txBody>
          <a:bodyPr vert="horz" wrap="square" lIns="0" tIns="0" rIns="0" bIns="0" rtlCol="0">
            <a:spAutoFit/>
          </a:bodyPr>
          <a:lstStyle/>
          <a:p>
            <a:pPr marL="12700">
              <a:lnSpc>
                <a:spcPts val="1285"/>
              </a:lnSpc>
            </a:pPr>
            <a:r>
              <a:rPr sz="1250" spc="-50">
                <a:solidFill>
                  <a:srgbClr val="888888"/>
                </a:solidFill>
                <a:latin typeface="Calibri"/>
                <a:cs typeface="Calibri"/>
              </a:rPr>
              <a:t>6</a:t>
            </a:r>
            <a:endParaRPr sz="1250">
              <a:latin typeface="Calibri"/>
              <a:cs typeface="Calibri"/>
            </a:endParaRPr>
          </a:p>
        </p:txBody>
      </p:sp>
      <p:sp>
        <p:nvSpPr>
          <p:cNvPr id="2" name="object 2"/>
          <p:cNvSpPr txBox="1">
            <a:spLocks noGrp="1"/>
          </p:cNvSpPr>
          <p:nvPr>
            <p:ph type="title"/>
          </p:nvPr>
        </p:nvSpPr>
        <p:spPr>
          <a:prstGeom prst="rect">
            <a:avLst/>
          </a:prstGeom>
        </p:spPr>
        <p:txBody>
          <a:bodyPr vert="horz" wrap="square" lIns="0" tIns="182422" rIns="0" bIns="0" rtlCol="0">
            <a:spAutoFit/>
          </a:bodyPr>
          <a:lstStyle/>
          <a:p>
            <a:pPr marL="1344930">
              <a:lnSpc>
                <a:spcPct val="100000"/>
              </a:lnSpc>
              <a:spcBef>
                <a:spcPts val="105"/>
              </a:spcBef>
            </a:pPr>
            <a:r>
              <a:rPr sz="3400" b="0" spc="180">
                <a:solidFill>
                  <a:srgbClr val="C10D28"/>
                </a:solidFill>
                <a:latin typeface="Times New Roman"/>
                <a:cs typeface="Times New Roman"/>
              </a:rPr>
              <a:t>MATERIAL</a:t>
            </a:r>
            <a:r>
              <a:rPr sz="3400" b="0" spc="200">
                <a:solidFill>
                  <a:srgbClr val="C10D28"/>
                </a:solidFill>
                <a:latin typeface="Times New Roman"/>
                <a:cs typeface="Times New Roman"/>
              </a:rPr>
              <a:t> REQUIRED</a:t>
            </a:r>
            <a:endParaRPr sz="3400">
              <a:latin typeface="Times New Roman"/>
              <a:cs typeface="Times New Roman"/>
            </a:endParaRPr>
          </a:p>
        </p:txBody>
      </p:sp>
      <p:sp>
        <p:nvSpPr>
          <p:cNvPr id="3" name="object 3"/>
          <p:cNvSpPr txBox="1"/>
          <p:nvPr/>
        </p:nvSpPr>
        <p:spPr>
          <a:xfrm>
            <a:off x="673404" y="1878025"/>
            <a:ext cx="8493125" cy="3916457"/>
          </a:xfrm>
          <a:prstGeom prst="rect">
            <a:avLst/>
          </a:prstGeom>
        </p:spPr>
        <p:txBody>
          <a:bodyPr vert="horz" wrap="square" lIns="0" tIns="12700" rIns="0" bIns="0" rtlCol="0">
            <a:spAutoFit/>
          </a:bodyPr>
          <a:lstStyle/>
          <a:p>
            <a:pPr marL="182880" indent="-170180">
              <a:lnSpc>
                <a:spcPct val="100000"/>
              </a:lnSpc>
              <a:spcBef>
                <a:spcPts val="100"/>
              </a:spcBef>
              <a:buFont typeface="Arial MT"/>
              <a:buChar char="•"/>
              <a:tabLst>
                <a:tab pos="182880" algn="l"/>
              </a:tabLst>
            </a:pPr>
            <a:r>
              <a:rPr sz="1800" b="1" spc="-10">
                <a:latin typeface="Times New Roman"/>
                <a:cs typeface="Times New Roman"/>
              </a:rPr>
              <a:t>Hardware</a:t>
            </a:r>
            <a:endParaRPr sz="1800">
              <a:latin typeface="Times New Roman"/>
              <a:cs typeface="Times New Roman"/>
            </a:endParaRPr>
          </a:p>
          <a:p>
            <a:pPr marL="12700">
              <a:lnSpc>
                <a:spcPct val="100000"/>
              </a:lnSpc>
              <a:spcBef>
                <a:spcPts val="5"/>
              </a:spcBef>
            </a:pPr>
            <a:r>
              <a:rPr sz="1800" b="1">
                <a:latin typeface="Times New Roman"/>
                <a:cs typeface="Times New Roman"/>
              </a:rPr>
              <a:t>Laptop/PC</a:t>
            </a:r>
            <a:r>
              <a:rPr sz="1800" b="1" spc="-10">
                <a:latin typeface="Times New Roman"/>
                <a:cs typeface="Times New Roman"/>
              </a:rPr>
              <a:t> </a:t>
            </a:r>
            <a:r>
              <a:rPr sz="1800">
                <a:latin typeface="Times New Roman"/>
                <a:cs typeface="Times New Roman"/>
              </a:rPr>
              <a:t>(Windows/Linux,</a:t>
            </a:r>
            <a:r>
              <a:rPr sz="1800" spc="-45">
                <a:latin typeface="Times New Roman"/>
                <a:cs typeface="Times New Roman"/>
              </a:rPr>
              <a:t> </a:t>
            </a:r>
            <a:r>
              <a:rPr sz="1800">
                <a:latin typeface="Times New Roman"/>
                <a:cs typeface="Times New Roman"/>
              </a:rPr>
              <a:t>normal</a:t>
            </a:r>
            <a:r>
              <a:rPr sz="1800" spc="-45">
                <a:latin typeface="Times New Roman"/>
                <a:cs typeface="Times New Roman"/>
              </a:rPr>
              <a:t> </a:t>
            </a:r>
            <a:r>
              <a:rPr sz="1800">
                <a:latin typeface="Times New Roman"/>
                <a:cs typeface="Times New Roman"/>
              </a:rPr>
              <a:t>CPU</a:t>
            </a:r>
            <a:r>
              <a:rPr sz="1800" spc="-75">
                <a:latin typeface="Times New Roman"/>
                <a:cs typeface="Times New Roman"/>
              </a:rPr>
              <a:t> </a:t>
            </a:r>
            <a:r>
              <a:rPr sz="1800">
                <a:latin typeface="Times New Roman"/>
                <a:cs typeface="Times New Roman"/>
              </a:rPr>
              <a:t>is</a:t>
            </a:r>
            <a:r>
              <a:rPr sz="1800" spc="-45">
                <a:latin typeface="Times New Roman"/>
                <a:cs typeface="Times New Roman"/>
              </a:rPr>
              <a:t> </a:t>
            </a:r>
            <a:r>
              <a:rPr sz="1800">
                <a:latin typeface="Times New Roman"/>
                <a:cs typeface="Times New Roman"/>
              </a:rPr>
              <a:t>fine;</a:t>
            </a:r>
            <a:r>
              <a:rPr sz="1800" spc="-45">
                <a:latin typeface="Times New Roman"/>
                <a:cs typeface="Times New Roman"/>
              </a:rPr>
              <a:t> </a:t>
            </a:r>
            <a:r>
              <a:rPr sz="1800">
                <a:latin typeface="Times New Roman"/>
                <a:cs typeface="Times New Roman"/>
              </a:rPr>
              <a:t>GPU</a:t>
            </a:r>
            <a:r>
              <a:rPr sz="1800" spc="-55">
                <a:latin typeface="Times New Roman"/>
                <a:cs typeface="Times New Roman"/>
              </a:rPr>
              <a:t> </a:t>
            </a:r>
            <a:r>
              <a:rPr sz="1800">
                <a:latin typeface="Times New Roman"/>
                <a:cs typeface="Times New Roman"/>
              </a:rPr>
              <a:t>recommended</a:t>
            </a:r>
            <a:r>
              <a:rPr sz="1800" spc="-15">
                <a:latin typeface="Times New Roman"/>
                <a:cs typeface="Times New Roman"/>
              </a:rPr>
              <a:t> </a:t>
            </a:r>
            <a:r>
              <a:rPr sz="1800">
                <a:latin typeface="Times New Roman"/>
                <a:cs typeface="Times New Roman"/>
              </a:rPr>
              <a:t>for</a:t>
            </a:r>
            <a:r>
              <a:rPr sz="1800" spc="-30">
                <a:latin typeface="Times New Roman"/>
                <a:cs typeface="Times New Roman"/>
              </a:rPr>
              <a:t> </a:t>
            </a:r>
            <a:r>
              <a:rPr sz="1800">
                <a:latin typeface="Times New Roman"/>
                <a:cs typeface="Times New Roman"/>
              </a:rPr>
              <a:t>faster</a:t>
            </a:r>
            <a:r>
              <a:rPr sz="1800" spc="-25">
                <a:latin typeface="Times New Roman"/>
                <a:cs typeface="Times New Roman"/>
              </a:rPr>
              <a:t> </a:t>
            </a:r>
            <a:r>
              <a:rPr sz="1800" spc="-10">
                <a:latin typeface="Times New Roman"/>
                <a:cs typeface="Times New Roman"/>
              </a:rPr>
              <a:t>rendering).</a:t>
            </a:r>
            <a:endParaRPr sz="1800">
              <a:latin typeface="Times New Roman"/>
              <a:cs typeface="Times New Roman"/>
            </a:endParaRPr>
          </a:p>
          <a:p>
            <a:pPr marL="12700">
              <a:lnSpc>
                <a:spcPct val="100000"/>
              </a:lnSpc>
            </a:pPr>
            <a:r>
              <a:rPr sz="1800" b="1">
                <a:latin typeface="Times New Roman"/>
                <a:cs typeface="Times New Roman"/>
              </a:rPr>
              <a:t>External</a:t>
            </a:r>
            <a:r>
              <a:rPr sz="1800" b="1" spc="-30">
                <a:latin typeface="Times New Roman"/>
                <a:cs typeface="Times New Roman"/>
              </a:rPr>
              <a:t> </a:t>
            </a:r>
            <a:r>
              <a:rPr sz="1800" b="1">
                <a:latin typeface="Times New Roman"/>
                <a:cs typeface="Times New Roman"/>
              </a:rPr>
              <a:t>storage</a:t>
            </a:r>
            <a:r>
              <a:rPr sz="1800" b="1" spc="-10">
                <a:latin typeface="Times New Roman"/>
                <a:cs typeface="Times New Roman"/>
              </a:rPr>
              <a:t> </a:t>
            </a:r>
            <a:r>
              <a:rPr sz="1800">
                <a:latin typeface="Times New Roman"/>
                <a:cs typeface="Times New Roman"/>
              </a:rPr>
              <a:t>(HDD/SSD</a:t>
            </a:r>
            <a:r>
              <a:rPr sz="1800" spc="-35">
                <a:latin typeface="Times New Roman"/>
                <a:cs typeface="Times New Roman"/>
              </a:rPr>
              <a:t> </a:t>
            </a:r>
            <a:r>
              <a:rPr sz="1800">
                <a:latin typeface="Times New Roman"/>
                <a:cs typeface="Times New Roman"/>
              </a:rPr>
              <a:t>for</a:t>
            </a:r>
            <a:r>
              <a:rPr sz="1800" spc="-30">
                <a:latin typeface="Times New Roman"/>
                <a:cs typeface="Times New Roman"/>
              </a:rPr>
              <a:t> </a:t>
            </a:r>
            <a:r>
              <a:rPr sz="1800">
                <a:latin typeface="Times New Roman"/>
                <a:cs typeface="Times New Roman"/>
              </a:rPr>
              <a:t>saving</a:t>
            </a:r>
            <a:r>
              <a:rPr sz="1800" spc="-45">
                <a:latin typeface="Times New Roman"/>
                <a:cs typeface="Times New Roman"/>
              </a:rPr>
              <a:t> </a:t>
            </a:r>
            <a:r>
              <a:rPr sz="1800">
                <a:latin typeface="Times New Roman"/>
                <a:cs typeface="Times New Roman"/>
              </a:rPr>
              <a:t>large</a:t>
            </a:r>
            <a:r>
              <a:rPr sz="1800" spc="-15">
                <a:latin typeface="Times New Roman"/>
                <a:cs typeface="Times New Roman"/>
              </a:rPr>
              <a:t> </a:t>
            </a:r>
            <a:r>
              <a:rPr sz="1800">
                <a:latin typeface="Times New Roman"/>
                <a:cs typeface="Times New Roman"/>
              </a:rPr>
              <a:t>design</a:t>
            </a:r>
            <a:r>
              <a:rPr sz="1800" spc="-25">
                <a:latin typeface="Times New Roman"/>
                <a:cs typeface="Times New Roman"/>
              </a:rPr>
              <a:t> </a:t>
            </a:r>
            <a:r>
              <a:rPr sz="1800">
                <a:latin typeface="Times New Roman"/>
                <a:cs typeface="Times New Roman"/>
              </a:rPr>
              <a:t>and</a:t>
            </a:r>
            <a:r>
              <a:rPr sz="1800" spc="-45">
                <a:latin typeface="Times New Roman"/>
                <a:cs typeface="Times New Roman"/>
              </a:rPr>
              <a:t> </a:t>
            </a:r>
            <a:r>
              <a:rPr sz="1800">
                <a:latin typeface="Times New Roman"/>
                <a:cs typeface="Times New Roman"/>
              </a:rPr>
              <a:t>video</a:t>
            </a:r>
            <a:r>
              <a:rPr sz="1800" spc="-40">
                <a:latin typeface="Times New Roman"/>
                <a:cs typeface="Times New Roman"/>
              </a:rPr>
              <a:t> </a:t>
            </a:r>
            <a:r>
              <a:rPr sz="1800" spc="-10">
                <a:latin typeface="Times New Roman"/>
                <a:cs typeface="Times New Roman"/>
              </a:rPr>
              <a:t>files).</a:t>
            </a:r>
            <a:endParaRPr sz="1800">
              <a:latin typeface="Times New Roman"/>
              <a:cs typeface="Times New Roman"/>
            </a:endParaRPr>
          </a:p>
          <a:p>
            <a:pPr marL="12700">
              <a:lnSpc>
                <a:spcPct val="100000"/>
              </a:lnSpc>
            </a:pPr>
            <a:r>
              <a:rPr sz="1800" b="1">
                <a:latin typeface="Times New Roman"/>
                <a:cs typeface="Times New Roman"/>
              </a:rPr>
              <a:t>Optional</a:t>
            </a:r>
            <a:r>
              <a:rPr sz="1800" b="1" spc="-5">
                <a:latin typeface="Times New Roman"/>
                <a:cs typeface="Times New Roman"/>
              </a:rPr>
              <a:t> </a:t>
            </a:r>
            <a:r>
              <a:rPr sz="1800" b="1">
                <a:latin typeface="Times New Roman"/>
                <a:cs typeface="Times New Roman"/>
              </a:rPr>
              <a:t>Graphics</a:t>
            </a:r>
            <a:r>
              <a:rPr sz="1800" b="1" spc="5">
                <a:latin typeface="Times New Roman"/>
                <a:cs typeface="Times New Roman"/>
              </a:rPr>
              <a:t> </a:t>
            </a:r>
            <a:r>
              <a:rPr sz="1800" b="1">
                <a:latin typeface="Times New Roman"/>
                <a:cs typeface="Times New Roman"/>
              </a:rPr>
              <a:t>Tablet</a:t>
            </a:r>
            <a:r>
              <a:rPr sz="1800" b="1" spc="-20">
                <a:latin typeface="Times New Roman"/>
                <a:cs typeface="Times New Roman"/>
              </a:rPr>
              <a:t> </a:t>
            </a:r>
            <a:r>
              <a:rPr sz="1800">
                <a:latin typeface="Times New Roman"/>
                <a:cs typeface="Times New Roman"/>
              </a:rPr>
              <a:t>(for</a:t>
            </a:r>
            <a:r>
              <a:rPr sz="1800" spc="-45">
                <a:latin typeface="Times New Roman"/>
                <a:cs typeface="Times New Roman"/>
              </a:rPr>
              <a:t> </a:t>
            </a:r>
            <a:r>
              <a:rPr sz="1800">
                <a:latin typeface="Times New Roman"/>
                <a:cs typeface="Times New Roman"/>
              </a:rPr>
              <a:t>precise</a:t>
            </a:r>
            <a:r>
              <a:rPr sz="1800" spc="-60">
                <a:latin typeface="Times New Roman"/>
                <a:cs typeface="Times New Roman"/>
              </a:rPr>
              <a:t> </a:t>
            </a:r>
            <a:r>
              <a:rPr sz="1800">
                <a:latin typeface="Times New Roman"/>
                <a:cs typeface="Times New Roman"/>
              </a:rPr>
              <a:t>3D</a:t>
            </a:r>
            <a:r>
              <a:rPr sz="1800" spc="-50">
                <a:latin typeface="Times New Roman"/>
                <a:cs typeface="Times New Roman"/>
              </a:rPr>
              <a:t> </a:t>
            </a:r>
            <a:r>
              <a:rPr sz="1800" spc="-10">
                <a:latin typeface="Times New Roman"/>
                <a:cs typeface="Times New Roman"/>
              </a:rPr>
              <a:t>sketching).</a:t>
            </a:r>
            <a:endParaRPr sz="1800">
              <a:latin typeface="Times New Roman"/>
              <a:cs typeface="Times New Roman"/>
            </a:endParaRPr>
          </a:p>
          <a:p>
            <a:pPr>
              <a:lnSpc>
                <a:spcPct val="100000"/>
              </a:lnSpc>
              <a:spcBef>
                <a:spcPts val="90"/>
              </a:spcBef>
            </a:pPr>
            <a:endParaRPr sz="1800">
              <a:latin typeface="Times New Roman"/>
              <a:cs typeface="Times New Roman"/>
            </a:endParaRPr>
          </a:p>
          <a:p>
            <a:pPr marL="182880" indent="-170180">
              <a:lnSpc>
                <a:spcPct val="100000"/>
              </a:lnSpc>
              <a:buFont typeface="Arial MT"/>
              <a:buChar char="•"/>
              <a:tabLst>
                <a:tab pos="182880" algn="l"/>
              </a:tabLst>
            </a:pPr>
            <a:r>
              <a:rPr sz="1800" b="1">
                <a:latin typeface="Times New Roman"/>
                <a:cs typeface="Times New Roman"/>
              </a:rPr>
              <a:t>Software</a:t>
            </a:r>
            <a:r>
              <a:rPr sz="1800" b="1" spc="-45">
                <a:latin typeface="Times New Roman"/>
                <a:cs typeface="Times New Roman"/>
              </a:rPr>
              <a:t> </a:t>
            </a:r>
            <a:r>
              <a:rPr sz="1800" b="1">
                <a:latin typeface="Times New Roman"/>
                <a:cs typeface="Times New Roman"/>
              </a:rPr>
              <a:t>&amp; </a:t>
            </a:r>
            <a:r>
              <a:rPr sz="1800" b="1" spc="-10">
                <a:latin typeface="Times New Roman"/>
                <a:cs typeface="Times New Roman"/>
              </a:rPr>
              <a:t>Tools</a:t>
            </a:r>
            <a:endParaRPr sz="1800">
              <a:latin typeface="Times New Roman"/>
              <a:cs typeface="Times New Roman"/>
            </a:endParaRPr>
          </a:p>
          <a:p>
            <a:pPr marL="12700">
              <a:lnSpc>
                <a:spcPct val="100000"/>
              </a:lnSpc>
              <a:spcBef>
                <a:spcPts val="5"/>
              </a:spcBef>
            </a:pPr>
            <a:r>
              <a:rPr sz="1800" b="1">
                <a:latin typeface="Times New Roman"/>
                <a:cs typeface="Times New Roman"/>
              </a:rPr>
              <a:t>3D</a:t>
            </a:r>
            <a:r>
              <a:rPr sz="1800" b="1" spc="-35">
                <a:latin typeface="Times New Roman"/>
                <a:cs typeface="Times New Roman"/>
              </a:rPr>
              <a:t> </a:t>
            </a:r>
            <a:r>
              <a:rPr sz="1800" b="1">
                <a:latin typeface="Times New Roman"/>
                <a:cs typeface="Times New Roman"/>
              </a:rPr>
              <a:t>Design Software</a:t>
            </a:r>
            <a:r>
              <a:rPr sz="1800" b="1" spc="-25">
                <a:latin typeface="Times New Roman"/>
                <a:cs typeface="Times New Roman"/>
              </a:rPr>
              <a:t> </a:t>
            </a:r>
            <a:r>
              <a:rPr sz="1800">
                <a:latin typeface="Times New Roman"/>
                <a:cs typeface="Times New Roman"/>
              </a:rPr>
              <a:t>→</a:t>
            </a:r>
            <a:r>
              <a:rPr sz="1800" spc="-10">
                <a:latin typeface="Times New Roman"/>
                <a:cs typeface="Times New Roman"/>
              </a:rPr>
              <a:t> </a:t>
            </a:r>
            <a:r>
              <a:rPr sz="1800">
                <a:latin typeface="Times New Roman"/>
                <a:cs typeface="Times New Roman"/>
              </a:rPr>
              <a:t>SolidWorks</a:t>
            </a:r>
            <a:r>
              <a:rPr sz="1800" spc="-30">
                <a:latin typeface="Times New Roman"/>
                <a:cs typeface="Times New Roman"/>
              </a:rPr>
              <a:t> </a:t>
            </a:r>
            <a:r>
              <a:rPr sz="1800">
                <a:latin typeface="Times New Roman"/>
                <a:cs typeface="Times New Roman"/>
              </a:rPr>
              <a:t>/</a:t>
            </a:r>
            <a:r>
              <a:rPr sz="1800" spc="-5">
                <a:latin typeface="Times New Roman"/>
                <a:cs typeface="Times New Roman"/>
              </a:rPr>
              <a:t> </a:t>
            </a:r>
            <a:r>
              <a:rPr sz="1800">
                <a:latin typeface="Times New Roman"/>
                <a:cs typeface="Times New Roman"/>
              </a:rPr>
              <a:t>Fusion</a:t>
            </a:r>
            <a:r>
              <a:rPr sz="1800" spc="-70">
                <a:latin typeface="Times New Roman"/>
                <a:cs typeface="Times New Roman"/>
              </a:rPr>
              <a:t> </a:t>
            </a:r>
            <a:r>
              <a:rPr sz="1800">
                <a:latin typeface="Times New Roman"/>
                <a:cs typeface="Times New Roman"/>
              </a:rPr>
              <a:t>360</a:t>
            </a:r>
            <a:r>
              <a:rPr sz="1800" spc="-15">
                <a:latin typeface="Times New Roman"/>
                <a:cs typeface="Times New Roman"/>
              </a:rPr>
              <a:t> </a:t>
            </a:r>
            <a:r>
              <a:rPr sz="1800">
                <a:latin typeface="Times New Roman"/>
                <a:cs typeface="Times New Roman"/>
              </a:rPr>
              <a:t>/</a:t>
            </a:r>
            <a:r>
              <a:rPr sz="1800" spc="-25">
                <a:latin typeface="Times New Roman"/>
                <a:cs typeface="Times New Roman"/>
              </a:rPr>
              <a:t> </a:t>
            </a:r>
            <a:r>
              <a:rPr sz="1800">
                <a:latin typeface="Times New Roman"/>
                <a:cs typeface="Times New Roman"/>
              </a:rPr>
              <a:t>Creo (for</a:t>
            </a:r>
            <a:r>
              <a:rPr sz="1800" spc="-5">
                <a:latin typeface="Times New Roman"/>
                <a:cs typeface="Times New Roman"/>
              </a:rPr>
              <a:t> </a:t>
            </a:r>
            <a:r>
              <a:rPr sz="1800">
                <a:latin typeface="Times New Roman"/>
                <a:cs typeface="Times New Roman"/>
              </a:rPr>
              <a:t>drone</a:t>
            </a:r>
            <a:r>
              <a:rPr sz="1800" spc="5">
                <a:latin typeface="Times New Roman"/>
                <a:cs typeface="Times New Roman"/>
              </a:rPr>
              <a:t> </a:t>
            </a:r>
            <a:r>
              <a:rPr sz="1800" spc="-10">
                <a:latin typeface="Times New Roman"/>
                <a:cs typeface="Times New Roman"/>
              </a:rPr>
              <a:t>modeling).</a:t>
            </a:r>
            <a:endParaRPr sz="1800">
              <a:latin typeface="Times New Roman"/>
              <a:cs typeface="Times New Roman"/>
            </a:endParaRPr>
          </a:p>
          <a:p>
            <a:pPr marL="12700">
              <a:lnSpc>
                <a:spcPct val="100000"/>
              </a:lnSpc>
            </a:pPr>
            <a:r>
              <a:rPr sz="1800" b="1">
                <a:latin typeface="Times New Roman"/>
                <a:cs typeface="Times New Roman"/>
              </a:rPr>
              <a:t>Animation</a:t>
            </a:r>
            <a:r>
              <a:rPr sz="1800" b="1" spc="20">
                <a:latin typeface="Times New Roman"/>
                <a:cs typeface="Times New Roman"/>
              </a:rPr>
              <a:t> </a:t>
            </a:r>
            <a:r>
              <a:rPr sz="1800" b="1">
                <a:latin typeface="Times New Roman"/>
                <a:cs typeface="Times New Roman"/>
              </a:rPr>
              <a:t>&amp;</a:t>
            </a:r>
            <a:r>
              <a:rPr sz="1800" b="1" spc="-30">
                <a:latin typeface="Times New Roman"/>
                <a:cs typeface="Times New Roman"/>
              </a:rPr>
              <a:t> </a:t>
            </a:r>
            <a:r>
              <a:rPr sz="1800" b="1">
                <a:latin typeface="Times New Roman"/>
                <a:cs typeface="Times New Roman"/>
              </a:rPr>
              <a:t>Rendering</a:t>
            </a:r>
            <a:r>
              <a:rPr sz="1800" b="1" spc="5">
                <a:latin typeface="Times New Roman"/>
                <a:cs typeface="Times New Roman"/>
              </a:rPr>
              <a:t> </a:t>
            </a:r>
            <a:r>
              <a:rPr sz="1800" b="1">
                <a:latin typeface="Times New Roman"/>
                <a:cs typeface="Times New Roman"/>
              </a:rPr>
              <a:t>Software</a:t>
            </a:r>
            <a:r>
              <a:rPr sz="1800" b="1" spc="-60">
                <a:latin typeface="Times New Roman"/>
                <a:cs typeface="Times New Roman"/>
              </a:rPr>
              <a:t> </a:t>
            </a:r>
            <a:r>
              <a:rPr sz="1800">
                <a:latin typeface="Times New Roman"/>
                <a:cs typeface="Times New Roman"/>
              </a:rPr>
              <a:t>→</a:t>
            </a:r>
            <a:r>
              <a:rPr sz="1800" spc="-45">
                <a:latin typeface="Times New Roman"/>
                <a:cs typeface="Times New Roman"/>
              </a:rPr>
              <a:t> </a:t>
            </a:r>
            <a:r>
              <a:rPr sz="1800">
                <a:latin typeface="Times New Roman"/>
                <a:cs typeface="Times New Roman"/>
              </a:rPr>
              <a:t>Blender</a:t>
            </a:r>
            <a:r>
              <a:rPr sz="1800" spc="-70">
                <a:latin typeface="Times New Roman"/>
                <a:cs typeface="Times New Roman"/>
              </a:rPr>
              <a:t> </a:t>
            </a:r>
            <a:r>
              <a:rPr sz="1800">
                <a:latin typeface="Times New Roman"/>
                <a:cs typeface="Times New Roman"/>
              </a:rPr>
              <a:t>/</a:t>
            </a:r>
            <a:r>
              <a:rPr sz="1800" spc="-40">
                <a:latin typeface="Times New Roman"/>
                <a:cs typeface="Times New Roman"/>
              </a:rPr>
              <a:t> </a:t>
            </a:r>
            <a:r>
              <a:rPr sz="1800">
                <a:latin typeface="Times New Roman"/>
                <a:cs typeface="Times New Roman"/>
              </a:rPr>
              <a:t>Maya</a:t>
            </a:r>
            <a:r>
              <a:rPr sz="1800" spc="-30">
                <a:latin typeface="Times New Roman"/>
                <a:cs typeface="Times New Roman"/>
              </a:rPr>
              <a:t> </a:t>
            </a:r>
            <a:r>
              <a:rPr sz="1800">
                <a:latin typeface="Times New Roman"/>
                <a:cs typeface="Times New Roman"/>
              </a:rPr>
              <a:t>(for</a:t>
            </a:r>
            <a:r>
              <a:rPr sz="1800" spc="-25">
                <a:latin typeface="Times New Roman"/>
                <a:cs typeface="Times New Roman"/>
              </a:rPr>
              <a:t> </a:t>
            </a:r>
            <a:r>
              <a:rPr sz="1800" spc="-10">
                <a:latin typeface="Times New Roman"/>
                <a:cs typeface="Times New Roman"/>
              </a:rPr>
              <a:t>animations).</a:t>
            </a:r>
            <a:endParaRPr sz="1800">
              <a:latin typeface="Times New Roman"/>
              <a:cs typeface="Times New Roman"/>
            </a:endParaRPr>
          </a:p>
          <a:p>
            <a:pPr marL="12700">
              <a:lnSpc>
                <a:spcPct val="100000"/>
              </a:lnSpc>
            </a:pPr>
            <a:r>
              <a:rPr sz="1800" b="1">
                <a:latin typeface="Times New Roman"/>
                <a:cs typeface="Times New Roman"/>
              </a:rPr>
              <a:t>Video</a:t>
            </a:r>
            <a:r>
              <a:rPr sz="1800" b="1" spc="5">
                <a:latin typeface="Times New Roman"/>
                <a:cs typeface="Times New Roman"/>
              </a:rPr>
              <a:t> </a:t>
            </a:r>
            <a:r>
              <a:rPr sz="1800" b="1">
                <a:latin typeface="Times New Roman"/>
                <a:cs typeface="Times New Roman"/>
              </a:rPr>
              <a:t>Editing</a:t>
            </a:r>
            <a:r>
              <a:rPr sz="1800" b="1" spc="5">
                <a:latin typeface="Times New Roman"/>
                <a:cs typeface="Times New Roman"/>
              </a:rPr>
              <a:t> </a:t>
            </a:r>
            <a:r>
              <a:rPr sz="1800" b="1">
                <a:latin typeface="Times New Roman"/>
                <a:cs typeface="Times New Roman"/>
              </a:rPr>
              <a:t>Software</a:t>
            </a:r>
            <a:r>
              <a:rPr sz="1800" b="1" spc="-45">
                <a:latin typeface="Times New Roman"/>
                <a:cs typeface="Times New Roman"/>
              </a:rPr>
              <a:t> </a:t>
            </a:r>
            <a:r>
              <a:rPr sz="1800">
                <a:latin typeface="Times New Roman"/>
                <a:cs typeface="Times New Roman"/>
              </a:rPr>
              <a:t>→</a:t>
            </a:r>
            <a:r>
              <a:rPr sz="1800" spc="-25">
                <a:latin typeface="Times New Roman"/>
                <a:cs typeface="Times New Roman"/>
              </a:rPr>
              <a:t> </a:t>
            </a:r>
            <a:r>
              <a:rPr sz="1800">
                <a:latin typeface="Times New Roman"/>
                <a:cs typeface="Times New Roman"/>
              </a:rPr>
              <a:t>Adobe</a:t>
            </a:r>
            <a:r>
              <a:rPr sz="1800" spc="-65">
                <a:latin typeface="Times New Roman"/>
                <a:cs typeface="Times New Roman"/>
              </a:rPr>
              <a:t> </a:t>
            </a:r>
            <a:r>
              <a:rPr sz="1800">
                <a:latin typeface="Times New Roman"/>
                <a:cs typeface="Times New Roman"/>
              </a:rPr>
              <a:t>Premiere</a:t>
            </a:r>
            <a:r>
              <a:rPr sz="1800" spc="-15">
                <a:latin typeface="Times New Roman"/>
                <a:cs typeface="Times New Roman"/>
              </a:rPr>
              <a:t> </a:t>
            </a:r>
            <a:r>
              <a:rPr sz="1800">
                <a:latin typeface="Times New Roman"/>
                <a:cs typeface="Times New Roman"/>
              </a:rPr>
              <a:t>Pro</a:t>
            </a:r>
            <a:r>
              <a:rPr sz="1800" spc="-60">
                <a:latin typeface="Times New Roman"/>
                <a:cs typeface="Times New Roman"/>
              </a:rPr>
              <a:t> </a:t>
            </a:r>
            <a:r>
              <a:rPr sz="1800">
                <a:latin typeface="Times New Roman"/>
                <a:cs typeface="Times New Roman"/>
              </a:rPr>
              <a:t>/</a:t>
            </a:r>
            <a:r>
              <a:rPr sz="1800" spc="-50">
                <a:latin typeface="Times New Roman"/>
                <a:cs typeface="Times New Roman"/>
              </a:rPr>
              <a:t> </a:t>
            </a:r>
            <a:r>
              <a:rPr sz="1800">
                <a:latin typeface="Times New Roman"/>
                <a:cs typeface="Times New Roman"/>
              </a:rPr>
              <a:t>After</a:t>
            </a:r>
            <a:r>
              <a:rPr sz="1800" spc="15">
                <a:latin typeface="Times New Roman"/>
                <a:cs typeface="Times New Roman"/>
              </a:rPr>
              <a:t> </a:t>
            </a:r>
            <a:r>
              <a:rPr sz="1800">
                <a:latin typeface="Times New Roman"/>
                <a:cs typeface="Times New Roman"/>
              </a:rPr>
              <a:t>Effects</a:t>
            </a:r>
            <a:r>
              <a:rPr sz="1800" spc="40">
                <a:latin typeface="Times New Roman"/>
                <a:cs typeface="Times New Roman"/>
              </a:rPr>
              <a:t> </a:t>
            </a:r>
            <a:r>
              <a:rPr sz="1800">
                <a:latin typeface="Times New Roman"/>
                <a:cs typeface="Times New Roman"/>
              </a:rPr>
              <a:t>(for</a:t>
            </a:r>
            <a:r>
              <a:rPr sz="1800" spc="-30">
                <a:latin typeface="Times New Roman"/>
                <a:cs typeface="Times New Roman"/>
              </a:rPr>
              <a:t> </a:t>
            </a:r>
            <a:r>
              <a:rPr sz="1800">
                <a:latin typeface="Times New Roman"/>
                <a:cs typeface="Times New Roman"/>
              </a:rPr>
              <a:t>compiling</a:t>
            </a:r>
            <a:r>
              <a:rPr sz="1800" spc="-40">
                <a:latin typeface="Times New Roman"/>
                <a:cs typeface="Times New Roman"/>
              </a:rPr>
              <a:t> </a:t>
            </a:r>
            <a:r>
              <a:rPr sz="1800">
                <a:latin typeface="Times New Roman"/>
                <a:cs typeface="Times New Roman"/>
              </a:rPr>
              <a:t>final</a:t>
            </a:r>
            <a:r>
              <a:rPr sz="1800" spc="-25">
                <a:latin typeface="Times New Roman"/>
                <a:cs typeface="Times New Roman"/>
              </a:rPr>
              <a:t> </a:t>
            </a:r>
            <a:r>
              <a:rPr sz="1800" spc="-10">
                <a:latin typeface="Times New Roman"/>
                <a:cs typeface="Times New Roman"/>
              </a:rPr>
              <a:t>video).</a:t>
            </a:r>
            <a:endParaRPr sz="1800">
              <a:latin typeface="Times New Roman"/>
              <a:cs typeface="Times New Roman"/>
            </a:endParaRPr>
          </a:p>
          <a:p>
            <a:pPr marL="12700">
              <a:lnSpc>
                <a:spcPct val="100000"/>
              </a:lnSpc>
            </a:pPr>
            <a:r>
              <a:rPr sz="1800" b="1">
                <a:latin typeface="Times New Roman"/>
                <a:cs typeface="Times New Roman"/>
              </a:rPr>
              <a:t>Supporting</a:t>
            </a:r>
            <a:r>
              <a:rPr sz="1800" b="1" spc="15">
                <a:latin typeface="Times New Roman"/>
                <a:cs typeface="Times New Roman"/>
              </a:rPr>
              <a:t> </a:t>
            </a:r>
            <a:r>
              <a:rPr sz="1800" b="1">
                <a:latin typeface="Times New Roman"/>
                <a:cs typeface="Times New Roman"/>
              </a:rPr>
              <a:t>Tools </a:t>
            </a:r>
            <a:r>
              <a:rPr sz="1800">
                <a:latin typeface="Times New Roman"/>
                <a:cs typeface="Times New Roman"/>
              </a:rPr>
              <a:t>→</a:t>
            </a:r>
            <a:r>
              <a:rPr sz="1800" spc="-40">
                <a:latin typeface="Times New Roman"/>
                <a:cs typeface="Times New Roman"/>
              </a:rPr>
              <a:t> </a:t>
            </a:r>
            <a:r>
              <a:rPr sz="1800">
                <a:latin typeface="Times New Roman"/>
                <a:cs typeface="Times New Roman"/>
              </a:rPr>
              <a:t>Photoshop/GIMP</a:t>
            </a:r>
            <a:r>
              <a:rPr sz="1800" spc="-70">
                <a:latin typeface="Times New Roman"/>
                <a:cs typeface="Times New Roman"/>
              </a:rPr>
              <a:t> </a:t>
            </a:r>
            <a:r>
              <a:rPr sz="1800">
                <a:latin typeface="Times New Roman"/>
                <a:cs typeface="Times New Roman"/>
              </a:rPr>
              <a:t>(for</a:t>
            </a:r>
            <a:r>
              <a:rPr sz="1800" spc="-35">
                <a:latin typeface="Times New Roman"/>
                <a:cs typeface="Times New Roman"/>
              </a:rPr>
              <a:t> </a:t>
            </a:r>
            <a:r>
              <a:rPr sz="1800">
                <a:latin typeface="Times New Roman"/>
                <a:cs typeface="Times New Roman"/>
              </a:rPr>
              <a:t>textures,</a:t>
            </a:r>
            <a:r>
              <a:rPr sz="1800" spc="-30">
                <a:latin typeface="Times New Roman"/>
                <a:cs typeface="Times New Roman"/>
              </a:rPr>
              <a:t> </a:t>
            </a:r>
            <a:r>
              <a:rPr sz="1800" spc="-10">
                <a:latin typeface="Times New Roman"/>
                <a:cs typeface="Times New Roman"/>
              </a:rPr>
              <a:t>backgrounds).</a:t>
            </a:r>
            <a:endParaRPr sz="1800">
              <a:latin typeface="Times New Roman"/>
              <a:cs typeface="Times New Roman"/>
            </a:endParaRPr>
          </a:p>
          <a:p>
            <a:pPr>
              <a:lnSpc>
                <a:spcPct val="100000"/>
              </a:lnSpc>
              <a:spcBef>
                <a:spcPts val="90"/>
              </a:spcBef>
            </a:pPr>
            <a:endParaRPr sz="1800">
              <a:latin typeface="Times New Roman"/>
              <a:cs typeface="Times New Roman"/>
            </a:endParaRPr>
          </a:p>
          <a:p>
            <a:pPr marL="182880" indent="-170180">
              <a:lnSpc>
                <a:spcPct val="100000"/>
              </a:lnSpc>
              <a:spcBef>
                <a:spcPts val="5"/>
              </a:spcBef>
              <a:buFont typeface="Arial MT"/>
              <a:buChar char="•"/>
              <a:tabLst>
                <a:tab pos="182880" algn="l"/>
              </a:tabLst>
            </a:pPr>
            <a:r>
              <a:rPr sz="1800" b="1">
                <a:latin typeface="Times New Roman"/>
                <a:cs typeface="Times New Roman"/>
              </a:rPr>
              <a:t>Reference</a:t>
            </a:r>
            <a:r>
              <a:rPr sz="1800" b="1" spc="-80">
                <a:latin typeface="Times New Roman"/>
                <a:cs typeface="Times New Roman"/>
              </a:rPr>
              <a:t> </a:t>
            </a:r>
            <a:r>
              <a:rPr sz="1800" b="1" spc="-10">
                <a:latin typeface="Times New Roman"/>
                <a:cs typeface="Times New Roman"/>
              </a:rPr>
              <a:t>Resources</a:t>
            </a:r>
            <a:endParaRPr sz="1800">
              <a:latin typeface="Times New Roman"/>
              <a:cs typeface="Times New Roman"/>
            </a:endParaRPr>
          </a:p>
          <a:p>
            <a:pPr marL="12700" marR="2179955">
              <a:lnSpc>
                <a:spcPct val="100000"/>
              </a:lnSpc>
            </a:pPr>
            <a:r>
              <a:rPr sz="1800">
                <a:latin typeface="Times New Roman"/>
                <a:cs typeface="Times New Roman"/>
              </a:rPr>
              <a:t>Research</a:t>
            </a:r>
            <a:r>
              <a:rPr sz="1800" spc="10">
                <a:latin typeface="Times New Roman"/>
                <a:cs typeface="Times New Roman"/>
              </a:rPr>
              <a:t> </a:t>
            </a:r>
            <a:r>
              <a:rPr sz="1800">
                <a:latin typeface="Times New Roman"/>
                <a:cs typeface="Times New Roman"/>
              </a:rPr>
              <a:t>papers</a:t>
            </a:r>
            <a:r>
              <a:rPr sz="1800" spc="-55">
                <a:latin typeface="Times New Roman"/>
                <a:cs typeface="Times New Roman"/>
              </a:rPr>
              <a:t> </a:t>
            </a:r>
            <a:r>
              <a:rPr sz="1800">
                <a:latin typeface="Times New Roman"/>
                <a:cs typeface="Times New Roman"/>
              </a:rPr>
              <a:t>&amp;</a:t>
            </a:r>
            <a:r>
              <a:rPr sz="1800" spc="-30">
                <a:latin typeface="Times New Roman"/>
                <a:cs typeface="Times New Roman"/>
              </a:rPr>
              <a:t> </a:t>
            </a:r>
            <a:r>
              <a:rPr sz="1800">
                <a:latin typeface="Times New Roman"/>
                <a:cs typeface="Times New Roman"/>
              </a:rPr>
              <a:t>online</a:t>
            </a:r>
            <a:r>
              <a:rPr sz="1800" spc="-50">
                <a:latin typeface="Times New Roman"/>
                <a:cs typeface="Times New Roman"/>
              </a:rPr>
              <a:t> </a:t>
            </a:r>
            <a:r>
              <a:rPr sz="1800">
                <a:latin typeface="Times New Roman"/>
                <a:cs typeface="Times New Roman"/>
              </a:rPr>
              <a:t>articles</a:t>
            </a:r>
            <a:r>
              <a:rPr sz="1800" spc="-30">
                <a:latin typeface="Times New Roman"/>
                <a:cs typeface="Times New Roman"/>
              </a:rPr>
              <a:t> </a:t>
            </a:r>
            <a:r>
              <a:rPr sz="1800">
                <a:latin typeface="Times New Roman"/>
                <a:cs typeface="Times New Roman"/>
              </a:rPr>
              <a:t>on</a:t>
            </a:r>
            <a:r>
              <a:rPr sz="1800" spc="-30">
                <a:latin typeface="Times New Roman"/>
                <a:cs typeface="Times New Roman"/>
              </a:rPr>
              <a:t> </a:t>
            </a:r>
            <a:r>
              <a:rPr sz="1800">
                <a:latin typeface="Times New Roman"/>
                <a:cs typeface="Times New Roman"/>
              </a:rPr>
              <a:t>drone</a:t>
            </a:r>
            <a:r>
              <a:rPr sz="1800" spc="-70">
                <a:latin typeface="Times New Roman"/>
                <a:cs typeface="Times New Roman"/>
              </a:rPr>
              <a:t> </a:t>
            </a:r>
            <a:r>
              <a:rPr sz="1800" spc="-10">
                <a:latin typeface="Times New Roman"/>
                <a:cs typeface="Times New Roman"/>
              </a:rPr>
              <a:t>technology.</a:t>
            </a:r>
            <a:r>
              <a:rPr sz="1800" spc="500">
                <a:latin typeface="Times New Roman"/>
                <a:cs typeface="Times New Roman"/>
              </a:rPr>
              <a:t> </a:t>
            </a:r>
            <a:r>
              <a:rPr sz="1800">
                <a:latin typeface="Times New Roman"/>
                <a:cs typeface="Times New Roman"/>
              </a:rPr>
              <a:t>Images/specs</a:t>
            </a:r>
            <a:r>
              <a:rPr sz="1800" spc="15">
                <a:latin typeface="Times New Roman"/>
                <a:cs typeface="Times New Roman"/>
              </a:rPr>
              <a:t> </a:t>
            </a:r>
            <a:r>
              <a:rPr sz="1800">
                <a:latin typeface="Times New Roman"/>
                <a:cs typeface="Times New Roman"/>
              </a:rPr>
              <a:t>of</a:t>
            </a:r>
            <a:r>
              <a:rPr sz="1800" spc="-55">
                <a:latin typeface="Times New Roman"/>
                <a:cs typeface="Times New Roman"/>
              </a:rPr>
              <a:t> </a:t>
            </a:r>
            <a:r>
              <a:rPr lang="en-US" sz="1800" b="1" spc="-55">
                <a:latin typeface="Times New Roman"/>
                <a:cs typeface="Times New Roman"/>
              </a:rPr>
              <a:t>drone honey harvesting </a:t>
            </a:r>
            <a:r>
              <a:rPr sz="1800">
                <a:latin typeface="Times New Roman"/>
                <a:cs typeface="Times New Roman"/>
              </a:rPr>
              <a:t>Background</a:t>
            </a:r>
            <a:r>
              <a:rPr sz="1800" spc="-80">
                <a:latin typeface="Times New Roman"/>
                <a:cs typeface="Times New Roman"/>
              </a:rPr>
              <a:t> </a:t>
            </a:r>
            <a:r>
              <a:rPr sz="1800">
                <a:latin typeface="Times New Roman"/>
                <a:cs typeface="Times New Roman"/>
              </a:rPr>
              <a:t>models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285"/>
              </a:lnSpc>
            </a:pPr>
            <a:r>
              <a:t>MKCE</a:t>
            </a:r>
            <a:r>
              <a:rPr spc="-10"/>
              <a:t> </a:t>
            </a:r>
            <a:r>
              <a:t>Presentation</a:t>
            </a:r>
            <a:r>
              <a:rPr spc="55"/>
              <a:t> </a:t>
            </a:r>
            <a:r>
              <a:t>Day</a:t>
            </a:r>
            <a:r>
              <a:rPr spc="-15"/>
              <a:t> </a:t>
            </a:r>
            <a:r>
              <a:rPr spc="-10"/>
              <a:t>-</a:t>
            </a:r>
            <a:r>
              <a:rPr spc="-50"/>
              <a:t>I</a:t>
            </a:r>
          </a:p>
        </p:txBody>
      </p:sp>
      <p:sp>
        <p:nvSpPr>
          <p:cNvPr id="5" name="object 5"/>
          <p:cNvSpPr txBox="1"/>
          <p:nvPr/>
        </p:nvSpPr>
        <p:spPr>
          <a:xfrm>
            <a:off x="9173336" y="6861149"/>
            <a:ext cx="106045" cy="184150"/>
          </a:xfrm>
          <a:prstGeom prst="rect">
            <a:avLst/>
          </a:prstGeom>
        </p:spPr>
        <p:txBody>
          <a:bodyPr vert="horz" wrap="square" lIns="0" tIns="0" rIns="0" bIns="0" rtlCol="0">
            <a:spAutoFit/>
          </a:bodyPr>
          <a:lstStyle/>
          <a:p>
            <a:pPr marL="12700">
              <a:lnSpc>
                <a:spcPts val="1285"/>
              </a:lnSpc>
            </a:pPr>
            <a:r>
              <a:rPr sz="1250" spc="-50">
                <a:solidFill>
                  <a:srgbClr val="888888"/>
                </a:solidFill>
                <a:latin typeface="Calibri"/>
                <a:cs typeface="Calibri"/>
              </a:rPr>
              <a:t>6</a:t>
            </a:r>
            <a:endParaRPr sz="1250">
              <a:latin typeface="Calibri"/>
              <a:cs typeface="Calibri"/>
            </a:endParaRPr>
          </a:p>
        </p:txBody>
      </p:sp>
      <p:sp>
        <p:nvSpPr>
          <p:cNvPr id="2" name="object 2"/>
          <p:cNvSpPr txBox="1">
            <a:spLocks noGrp="1"/>
          </p:cNvSpPr>
          <p:nvPr>
            <p:ph type="title"/>
          </p:nvPr>
        </p:nvSpPr>
        <p:spPr>
          <a:prstGeom prst="rect">
            <a:avLst/>
          </a:prstGeom>
        </p:spPr>
        <p:txBody>
          <a:bodyPr vert="horz" wrap="square" lIns="0" tIns="182422" rIns="0" bIns="0" rtlCol="0">
            <a:spAutoFit/>
          </a:bodyPr>
          <a:lstStyle/>
          <a:p>
            <a:pPr marL="1656080">
              <a:lnSpc>
                <a:spcPct val="100000"/>
              </a:lnSpc>
              <a:spcBef>
                <a:spcPts val="105"/>
              </a:spcBef>
            </a:pPr>
            <a:r>
              <a:rPr sz="3400" b="0" spc="180">
                <a:solidFill>
                  <a:srgbClr val="C10D28"/>
                </a:solidFill>
                <a:latin typeface="Times New Roman"/>
                <a:cs typeface="Times New Roman"/>
              </a:rPr>
              <a:t>COMPLETED</a:t>
            </a:r>
            <a:r>
              <a:rPr sz="3400" b="0" spc="190">
                <a:solidFill>
                  <a:srgbClr val="C10D28"/>
                </a:solidFill>
                <a:latin typeface="Times New Roman"/>
                <a:cs typeface="Times New Roman"/>
              </a:rPr>
              <a:t> </a:t>
            </a:r>
            <a:r>
              <a:rPr sz="3400" b="0" spc="160">
                <a:solidFill>
                  <a:srgbClr val="C10D28"/>
                </a:solidFill>
                <a:latin typeface="Times New Roman"/>
                <a:cs typeface="Times New Roman"/>
              </a:rPr>
              <a:t>WORK</a:t>
            </a:r>
            <a:endParaRPr sz="3400">
              <a:latin typeface="Times New Roman"/>
              <a:cs typeface="Times New Roman"/>
            </a:endParaRPr>
          </a:p>
        </p:txBody>
      </p:sp>
      <p:sp>
        <p:nvSpPr>
          <p:cNvPr id="6" name="Rectangle 1">
            <a:extLst>
              <a:ext uri="{FF2B5EF4-FFF2-40B4-BE49-F238E27FC236}">
                <a16:creationId xmlns:a16="http://schemas.microsoft.com/office/drawing/2014/main" id="{347B8E4C-2BAF-68CB-4D92-AC6CEE7DE89B}"/>
              </a:ext>
            </a:extLst>
          </p:cNvPr>
          <p:cNvSpPr>
            <a:spLocks noChangeArrowheads="1"/>
          </p:cNvSpPr>
          <p:nvPr/>
        </p:nvSpPr>
        <p:spPr bwMode="auto">
          <a:xfrm>
            <a:off x="1583981" y="2362200"/>
            <a:ext cx="7864819" cy="24314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9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Designed and assembled a drone prototype for honey harvesting.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9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Integrated sensors, camera, and honey collection mechanism.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9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Programmed the drone for automatic navigation and hive detection.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9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Conducted test flights near beehives under safe conditions.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9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Collected data on honey extraction, time efficiency, and bee behavior.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9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Compared drone harvesting results with manual methods.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9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Analyzed performance for efficiency, safety, and accuracy.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9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Prepared final report and presentation of results.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285"/>
              </a:lnSpc>
            </a:pPr>
            <a:r>
              <a:t>MKCE</a:t>
            </a:r>
            <a:r>
              <a:rPr spc="-10"/>
              <a:t> </a:t>
            </a:r>
            <a:r>
              <a:t>Presentation</a:t>
            </a:r>
            <a:r>
              <a:rPr spc="55"/>
              <a:t> </a:t>
            </a:r>
            <a:r>
              <a:t>Day</a:t>
            </a:r>
            <a:r>
              <a:rPr spc="-15"/>
              <a:t> </a:t>
            </a:r>
            <a:r>
              <a:rPr spc="-10"/>
              <a:t>-</a:t>
            </a:r>
            <a:r>
              <a:rPr spc="-50"/>
              <a:t>I</a:t>
            </a:r>
          </a:p>
        </p:txBody>
      </p:sp>
      <p:sp>
        <p:nvSpPr>
          <p:cNvPr id="5" name="object 5"/>
          <p:cNvSpPr txBox="1"/>
          <p:nvPr/>
        </p:nvSpPr>
        <p:spPr>
          <a:xfrm>
            <a:off x="9173336" y="6861149"/>
            <a:ext cx="106045" cy="184150"/>
          </a:xfrm>
          <a:prstGeom prst="rect">
            <a:avLst/>
          </a:prstGeom>
        </p:spPr>
        <p:txBody>
          <a:bodyPr vert="horz" wrap="square" lIns="0" tIns="0" rIns="0" bIns="0" rtlCol="0">
            <a:spAutoFit/>
          </a:bodyPr>
          <a:lstStyle/>
          <a:p>
            <a:pPr marL="12700">
              <a:lnSpc>
                <a:spcPts val="1285"/>
              </a:lnSpc>
            </a:pPr>
            <a:r>
              <a:rPr sz="1250" spc="-50">
                <a:solidFill>
                  <a:srgbClr val="888888"/>
                </a:solidFill>
                <a:latin typeface="Calibri"/>
                <a:cs typeface="Calibri"/>
              </a:rPr>
              <a:t>6</a:t>
            </a:r>
            <a:endParaRPr sz="1250">
              <a:latin typeface="Calibri"/>
              <a:cs typeface="Calibri"/>
            </a:endParaRPr>
          </a:p>
        </p:txBody>
      </p:sp>
      <p:sp>
        <p:nvSpPr>
          <p:cNvPr id="2" name="object 2"/>
          <p:cNvSpPr txBox="1">
            <a:spLocks noGrp="1"/>
          </p:cNvSpPr>
          <p:nvPr>
            <p:ph type="title"/>
          </p:nvPr>
        </p:nvSpPr>
        <p:spPr>
          <a:prstGeom prst="rect">
            <a:avLst/>
          </a:prstGeom>
        </p:spPr>
        <p:txBody>
          <a:bodyPr vert="horz" wrap="square" lIns="0" tIns="182422" rIns="0" bIns="0" rtlCol="0">
            <a:spAutoFit/>
          </a:bodyPr>
          <a:lstStyle/>
          <a:p>
            <a:pPr marL="2009139">
              <a:lnSpc>
                <a:spcPct val="100000"/>
              </a:lnSpc>
              <a:spcBef>
                <a:spcPts val="105"/>
              </a:spcBef>
            </a:pPr>
            <a:r>
              <a:rPr sz="3400" b="0" spc="225">
                <a:solidFill>
                  <a:srgbClr val="C10D28"/>
                </a:solidFill>
                <a:latin typeface="Times New Roman"/>
                <a:cs typeface="Times New Roman"/>
              </a:rPr>
              <a:t>PENDING</a:t>
            </a:r>
            <a:r>
              <a:rPr sz="3400" b="0" spc="215">
                <a:solidFill>
                  <a:srgbClr val="C10D28"/>
                </a:solidFill>
                <a:latin typeface="Times New Roman"/>
                <a:cs typeface="Times New Roman"/>
              </a:rPr>
              <a:t> </a:t>
            </a:r>
            <a:r>
              <a:rPr sz="3400" b="0" spc="160">
                <a:solidFill>
                  <a:srgbClr val="C10D28"/>
                </a:solidFill>
                <a:latin typeface="Times New Roman"/>
                <a:cs typeface="Times New Roman"/>
              </a:rPr>
              <a:t>WORK</a:t>
            </a:r>
            <a:endParaRPr sz="3400">
              <a:latin typeface="Times New Roman"/>
              <a:cs typeface="Times New Roman"/>
            </a:endParaRPr>
          </a:p>
        </p:txBody>
      </p:sp>
      <p:sp>
        <p:nvSpPr>
          <p:cNvPr id="3" name="object 3"/>
          <p:cNvSpPr txBox="1"/>
          <p:nvPr/>
        </p:nvSpPr>
        <p:spPr>
          <a:xfrm>
            <a:off x="1461896" y="1905000"/>
            <a:ext cx="7711440" cy="2732799"/>
          </a:xfrm>
          <a:prstGeom prst="rect">
            <a:avLst/>
          </a:prstGeom>
        </p:spPr>
        <p:txBody>
          <a:bodyPr vert="horz" wrap="square" lIns="0" tIns="11430" rIns="0" bIns="0" rtlCol="0" anchor="t">
            <a:spAutoFit/>
          </a:bodyPr>
          <a:lstStyle/>
          <a:p>
            <a:pPr algn="l">
              <a:buFont typeface="Arial MT"/>
              <a:buChar char="•"/>
              <a:tabLst>
                <a:tab pos="356870" algn="l"/>
              </a:tabLst>
            </a:pPr>
            <a:r>
              <a:rPr lang="en-US" sz="1900" spc="-10">
                <a:latin typeface="Times New Roman"/>
                <a:cs typeface="Times New Roman"/>
              </a:rPr>
              <a:t>Integration of advanced sensors for better honey cell detection.</a:t>
            </a:r>
            <a:endParaRPr lang="en-US" sz="1900" spc="-10">
              <a:solidFill>
                <a:srgbClr val="000000"/>
              </a:solidFill>
              <a:latin typeface="Times New Roman"/>
              <a:cs typeface="Times New Roman"/>
            </a:endParaRPr>
          </a:p>
          <a:p>
            <a:pPr algn="l">
              <a:spcBef>
                <a:spcPts val="90"/>
              </a:spcBef>
              <a:buFont typeface="Arial MT"/>
              <a:buChar char="•"/>
              <a:tabLst>
                <a:tab pos="356870" algn="l"/>
              </a:tabLst>
            </a:pPr>
            <a:r>
              <a:rPr lang="en-US" sz="1900" spc="-10">
                <a:latin typeface="Times New Roman"/>
                <a:cs typeface="Times New Roman"/>
              </a:rPr>
              <a:t>Improvement of drone stability and precision during harvesting.</a:t>
            </a:r>
            <a:endParaRPr lang="en-US" sz="1900">
              <a:latin typeface="Times New Roman"/>
              <a:cs typeface="Times New Roman"/>
            </a:endParaRPr>
          </a:p>
          <a:p>
            <a:pPr algn="l">
              <a:spcBef>
                <a:spcPts val="90"/>
              </a:spcBef>
              <a:buFont typeface="Arial MT"/>
              <a:buChar char="•"/>
              <a:tabLst>
                <a:tab pos="356870" algn="l"/>
              </a:tabLst>
            </a:pPr>
            <a:r>
              <a:rPr lang="en-US" sz="1900" spc="-10">
                <a:latin typeface="Times New Roman"/>
                <a:cs typeface="Times New Roman"/>
              </a:rPr>
              <a:t>Enhancement of the honey collection mechanism for higher efficiency.</a:t>
            </a:r>
            <a:endParaRPr lang="en-US" sz="1900">
              <a:latin typeface="Times New Roman"/>
              <a:cs typeface="Times New Roman"/>
            </a:endParaRPr>
          </a:p>
          <a:p>
            <a:pPr algn="l">
              <a:spcBef>
                <a:spcPts val="90"/>
              </a:spcBef>
              <a:buFont typeface="Arial MT"/>
              <a:buChar char="•"/>
              <a:tabLst>
                <a:tab pos="356870" algn="l"/>
              </a:tabLst>
            </a:pPr>
            <a:r>
              <a:rPr lang="en-US" sz="1900" spc="-10">
                <a:latin typeface="Times New Roman"/>
                <a:cs typeface="Times New Roman"/>
              </a:rPr>
              <a:t>Testing the system on multiple hives under real field conditions.</a:t>
            </a:r>
            <a:endParaRPr lang="en-US" sz="1900">
              <a:latin typeface="Times New Roman"/>
              <a:cs typeface="Times New Roman"/>
            </a:endParaRPr>
          </a:p>
          <a:p>
            <a:pPr algn="l">
              <a:spcBef>
                <a:spcPts val="90"/>
              </a:spcBef>
              <a:buFont typeface="Arial MT"/>
              <a:buChar char="•"/>
              <a:tabLst>
                <a:tab pos="356870" algn="l"/>
              </a:tabLst>
            </a:pPr>
            <a:r>
              <a:rPr lang="en-US" sz="1900" spc="-10">
                <a:latin typeface="Times New Roman"/>
                <a:cs typeface="Times New Roman"/>
              </a:rPr>
              <a:t>Development of a fully autonomous control system for navigation and harvesting.</a:t>
            </a:r>
            <a:endParaRPr lang="en-US" sz="1900">
              <a:latin typeface="Times New Roman"/>
              <a:cs typeface="Times New Roman"/>
            </a:endParaRPr>
          </a:p>
          <a:p>
            <a:pPr algn="l">
              <a:spcBef>
                <a:spcPts val="90"/>
              </a:spcBef>
              <a:buFont typeface="Arial MT"/>
              <a:buChar char="•"/>
              <a:tabLst>
                <a:tab pos="356870" algn="l"/>
              </a:tabLst>
            </a:pPr>
            <a:r>
              <a:rPr lang="en-US" sz="1900" spc="-10">
                <a:latin typeface="Times New Roman"/>
                <a:cs typeface="Times New Roman"/>
              </a:rPr>
              <a:t>Detailed data analysis on bee behavior and colony response.</a:t>
            </a:r>
            <a:endParaRPr lang="en-US" sz="1900">
              <a:latin typeface="Times New Roman"/>
              <a:cs typeface="Times New Roman"/>
            </a:endParaRPr>
          </a:p>
          <a:p>
            <a:pPr algn="l">
              <a:spcBef>
                <a:spcPts val="90"/>
              </a:spcBef>
              <a:buFont typeface="Arial MT"/>
              <a:buChar char="•"/>
              <a:tabLst>
                <a:tab pos="356870" algn="l"/>
              </a:tabLst>
            </a:pPr>
            <a:r>
              <a:rPr lang="en-US" sz="1900" spc="-10">
                <a:latin typeface="Times New Roman"/>
                <a:cs typeface="Times New Roman"/>
              </a:rPr>
              <a:t>Preparation of final documentation and project presentation.</a:t>
            </a:r>
            <a:endParaRPr lang="en-US" sz="1900">
              <a:latin typeface="Times New Roman"/>
              <a:cs typeface="Times New Roman"/>
            </a:endParaRPr>
          </a:p>
          <a:p>
            <a:pPr marL="12700">
              <a:lnSpc>
                <a:spcPct val="100000"/>
              </a:lnSpc>
              <a:spcBef>
                <a:spcPts val="90"/>
              </a:spcBef>
              <a:tabLst>
                <a:tab pos="356870" algn="l"/>
              </a:tabLst>
            </a:pPr>
            <a:endParaRPr lang="en-US" sz="1900" spc="-10">
              <a:latin typeface="Times New Roman"/>
              <a:cs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ftr" sz="quarter" idx="5"/>
          </p:nvPr>
        </p:nvSpPr>
        <p:spPr>
          <a:prstGeom prst="rect">
            <a:avLst/>
          </a:prstGeom>
        </p:spPr>
        <p:txBody>
          <a:bodyPr vert="horz" wrap="square" lIns="0" tIns="0" rIns="0" bIns="0" rtlCol="0">
            <a:spAutoFit/>
          </a:bodyPr>
          <a:lstStyle/>
          <a:p>
            <a:pPr marL="12700">
              <a:lnSpc>
                <a:spcPts val="1285"/>
              </a:lnSpc>
            </a:pPr>
            <a:r>
              <a:t>MKCE</a:t>
            </a:r>
            <a:r>
              <a:rPr spc="-10"/>
              <a:t> </a:t>
            </a:r>
            <a:r>
              <a:t>Presentation</a:t>
            </a:r>
            <a:r>
              <a:rPr spc="55"/>
              <a:t> </a:t>
            </a:r>
            <a:r>
              <a:t>Day</a:t>
            </a:r>
            <a:r>
              <a:rPr spc="-15"/>
              <a:t> </a:t>
            </a:r>
            <a:r>
              <a:rPr spc="-10"/>
              <a:t>-</a:t>
            </a:r>
            <a:r>
              <a:rPr spc="-50"/>
              <a:t>I</a:t>
            </a:r>
          </a:p>
        </p:txBody>
      </p:sp>
      <p:sp>
        <p:nvSpPr>
          <p:cNvPr id="4" name="object 4"/>
          <p:cNvSpPr txBox="1"/>
          <p:nvPr/>
        </p:nvSpPr>
        <p:spPr>
          <a:xfrm>
            <a:off x="9173336" y="6861149"/>
            <a:ext cx="106045" cy="184150"/>
          </a:xfrm>
          <a:prstGeom prst="rect">
            <a:avLst/>
          </a:prstGeom>
        </p:spPr>
        <p:txBody>
          <a:bodyPr vert="horz" wrap="square" lIns="0" tIns="0" rIns="0" bIns="0" rtlCol="0">
            <a:spAutoFit/>
          </a:bodyPr>
          <a:lstStyle/>
          <a:p>
            <a:pPr marL="12700">
              <a:lnSpc>
                <a:spcPts val="1285"/>
              </a:lnSpc>
            </a:pPr>
            <a:r>
              <a:rPr sz="1250" spc="-50">
                <a:solidFill>
                  <a:srgbClr val="888888"/>
                </a:solidFill>
                <a:latin typeface="Calibri"/>
                <a:cs typeface="Calibri"/>
              </a:rPr>
              <a:t>6</a:t>
            </a:r>
            <a:endParaRPr sz="1250">
              <a:latin typeface="Calibri"/>
              <a:cs typeface="Calibri"/>
            </a:endParaRPr>
          </a:p>
        </p:txBody>
      </p:sp>
      <p:sp>
        <p:nvSpPr>
          <p:cNvPr id="2" name="object 2"/>
          <p:cNvSpPr txBox="1">
            <a:spLocks noGrp="1"/>
          </p:cNvSpPr>
          <p:nvPr>
            <p:ph type="title"/>
          </p:nvPr>
        </p:nvSpPr>
        <p:spPr>
          <a:prstGeom prst="rect">
            <a:avLst/>
          </a:prstGeom>
        </p:spPr>
        <p:txBody>
          <a:bodyPr vert="horz" wrap="square" lIns="0" tIns="182422" rIns="0" bIns="0" rtlCol="0">
            <a:spAutoFit/>
          </a:bodyPr>
          <a:lstStyle/>
          <a:p>
            <a:pPr marL="1030605">
              <a:lnSpc>
                <a:spcPct val="100000"/>
              </a:lnSpc>
              <a:spcBef>
                <a:spcPts val="105"/>
              </a:spcBef>
            </a:pPr>
            <a:r>
              <a:rPr sz="3400" b="0" spc="225">
                <a:solidFill>
                  <a:srgbClr val="C10D28"/>
                </a:solidFill>
                <a:latin typeface="Times New Roman"/>
                <a:cs typeface="Times New Roman"/>
              </a:rPr>
              <a:t>WORKING</a:t>
            </a:r>
            <a:r>
              <a:rPr sz="3400" b="0" spc="210">
                <a:solidFill>
                  <a:srgbClr val="C10D28"/>
                </a:solidFill>
                <a:latin typeface="Times New Roman"/>
                <a:cs typeface="Times New Roman"/>
              </a:rPr>
              <a:t> </a:t>
            </a:r>
            <a:r>
              <a:rPr sz="3400" b="0" spc="185">
                <a:solidFill>
                  <a:srgbClr val="C10D28"/>
                </a:solidFill>
                <a:latin typeface="Times New Roman"/>
                <a:cs typeface="Times New Roman"/>
              </a:rPr>
              <a:t>PHOTOGRAPH</a:t>
            </a:r>
            <a:endParaRPr sz="3400">
              <a:latin typeface="Times New Roman"/>
              <a:cs typeface="Times New Roman"/>
            </a:endParaRPr>
          </a:p>
        </p:txBody>
      </p:sp>
      <p:pic>
        <p:nvPicPr>
          <p:cNvPr id="6" name="Picture 5" descr="A screenshot of a video game&#10;&#10;AI-generated content may be incorrect.">
            <a:extLst>
              <a:ext uri="{FF2B5EF4-FFF2-40B4-BE49-F238E27FC236}">
                <a16:creationId xmlns:a16="http://schemas.microsoft.com/office/drawing/2014/main" id="{93166EBC-C571-793E-C861-B619E26D4439}"/>
              </a:ext>
            </a:extLst>
          </p:cNvPr>
          <p:cNvPicPr>
            <a:picLocks noChangeAspect="1"/>
          </p:cNvPicPr>
          <p:nvPr/>
        </p:nvPicPr>
        <p:blipFill>
          <a:blip r:embed="rId2" cstate="print">
            <a:extLst>
              <a:ext uri="{28A0092B-C50C-407E-A947-70E740481C1C}">
                <a14:useLocalDpi xmlns:a14="http://schemas.microsoft.com/office/drawing/2010/main" val="0"/>
              </a:ext>
            </a:extLst>
          </a:blip>
          <a:srcRect l="11520"/>
          <a:stretch>
            <a:fillRect/>
          </a:stretch>
        </p:blipFill>
        <p:spPr>
          <a:xfrm>
            <a:off x="2288433" y="3797629"/>
            <a:ext cx="5176734" cy="2829787"/>
          </a:xfrm>
          <a:prstGeom prst="rect">
            <a:avLst/>
          </a:prstGeom>
        </p:spPr>
      </p:pic>
      <p:pic>
        <p:nvPicPr>
          <p:cNvPr id="8" name="Picture 7" descr="A white drone with a red line&#10;&#10;AI-generated content may be incorrect.">
            <a:extLst>
              <a:ext uri="{FF2B5EF4-FFF2-40B4-BE49-F238E27FC236}">
                <a16:creationId xmlns:a16="http://schemas.microsoft.com/office/drawing/2014/main" id="{B580A48F-05E5-FF6E-5ABC-9EBB693951AD}"/>
              </a:ext>
            </a:extLst>
          </p:cNvPr>
          <p:cNvPicPr>
            <a:picLocks noChangeAspect="1"/>
          </p:cNvPicPr>
          <p:nvPr/>
        </p:nvPicPr>
        <p:blipFill>
          <a:blip r:embed="rId3" cstate="print">
            <a:extLst>
              <a:ext uri="{28A0092B-C50C-407E-A947-70E740481C1C}">
                <a14:useLocalDpi xmlns:a14="http://schemas.microsoft.com/office/drawing/2010/main" val="0"/>
              </a:ext>
            </a:extLst>
          </a:blip>
          <a:srcRect l="16863" t="-510" r="519" b="510"/>
          <a:stretch>
            <a:fillRect/>
          </a:stretch>
        </p:blipFill>
        <p:spPr>
          <a:xfrm>
            <a:off x="2269202" y="810177"/>
            <a:ext cx="5117333" cy="284742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285"/>
              </a:lnSpc>
            </a:pPr>
            <a:r>
              <a:t>MKCE</a:t>
            </a:r>
            <a:r>
              <a:rPr spc="-10"/>
              <a:t> </a:t>
            </a:r>
            <a:r>
              <a:t>Presentation</a:t>
            </a:r>
            <a:r>
              <a:rPr spc="55"/>
              <a:t> </a:t>
            </a:r>
            <a:r>
              <a:t>Day</a:t>
            </a:r>
            <a:r>
              <a:rPr spc="-15"/>
              <a:t> </a:t>
            </a:r>
            <a:r>
              <a:rPr spc="-10"/>
              <a:t>-</a:t>
            </a:r>
            <a:r>
              <a:rPr spc="-50"/>
              <a:t>I</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285"/>
              </a:lnSpc>
            </a:pPr>
            <a:r>
              <a:rPr spc="-25"/>
              <a:t>7</a:t>
            </a:r>
          </a:p>
        </p:txBody>
      </p:sp>
      <p:sp>
        <p:nvSpPr>
          <p:cNvPr id="2" name="object 2"/>
          <p:cNvSpPr txBox="1">
            <a:spLocks noGrp="1"/>
          </p:cNvSpPr>
          <p:nvPr>
            <p:ph type="title"/>
          </p:nvPr>
        </p:nvSpPr>
        <p:spPr>
          <a:prstGeom prst="rect">
            <a:avLst/>
          </a:prstGeom>
        </p:spPr>
        <p:txBody>
          <a:bodyPr vert="horz" wrap="square" lIns="0" tIns="11430" rIns="0" bIns="0" rtlCol="0">
            <a:spAutoFit/>
          </a:bodyPr>
          <a:lstStyle/>
          <a:p>
            <a:pPr marL="12700">
              <a:lnSpc>
                <a:spcPct val="100000"/>
              </a:lnSpc>
              <a:spcBef>
                <a:spcPts val="90"/>
              </a:spcBef>
            </a:pPr>
            <a:r>
              <a:rPr sz="5100">
                <a:solidFill>
                  <a:srgbClr val="FF0000"/>
                </a:solidFill>
              </a:rPr>
              <a:t>RESULT</a:t>
            </a:r>
            <a:r>
              <a:rPr sz="5100" spc="220">
                <a:solidFill>
                  <a:srgbClr val="FF0000"/>
                </a:solidFill>
              </a:rPr>
              <a:t> </a:t>
            </a:r>
            <a:r>
              <a:rPr sz="5100" spc="-50">
                <a:solidFill>
                  <a:srgbClr val="FF0000"/>
                </a:solidFill>
              </a:rPr>
              <a:t>&amp;</a:t>
            </a:r>
            <a:r>
              <a:rPr sz="5100" spc="-290">
                <a:solidFill>
                  <a:srgbClr val="FF0000"/>
                </a:solidFill>
              </a:rPr>
              <a:t> </a:t>
            </a:r>
            <a:r>
              <a:rPr sz="5100" spc="80">
                <a:solidFill>
                  <a:srgbClr val="FF0000"/>
                </a:solidFill>
              </a:rPr>
              <a:t>DISCUSSION</a:t>
            </a:r>
            <a:endParaRPr sz="5100"/>
          </a:p>
        </p:txBody>
      </p:sp>
      <p:sp>
        <p:nvSpPr>
          <p:cNvPr id="3" name="object 3"/>
          <p:cNvSpPr txBox="1"/>
          <p:nvPr/>
        </p:nvSpPr>
        <p:spPr>
          <a:xfrm>
            <a:off x="663728" y="3429000"/>
            <a:ext cx="8796934" cy="934871"/>
          </a:xfrm>
          <a:prstGeom prst="rect">
            <a:avLst/>
          </a:prstGeom>
        </p:spPr>
        <p:txBody>
          <a:bodyPr vert="horz" wrap="square" lIns="0" tIns="11430" rIns="0" bIns="0" rtlCol="0">
            <a:spAutoFit/>
          </a:bodyPr>
          <a:lstStyle/>
          <a:p>
            <a:pPr marL="12700" marR="5080">
              <a:lnSpc>
                <a:spcPct val="100000"/>
              </a:lnSpc>
              <a:spcBef>
                <a:spcPts val="90"/>
              </a:spcBef>
            </a:pPr>
            <a:r>
              <a:rPr lang="en-US" sz="2000" spc="-30">
                <a:latin typeface="Times New Roman"/>
                <a:cs typeface="Times New Roman"/>
              </a:rPr>
              <a:t> </a:t>
            </a:r>
            <a:endParaRPr sz="2000">
              <a:latin typeface="Times New Roman"/>
              <a:cs typeface="Times New Roman"/>
            </a:endParaRPr>
          </a:p>
          <a:p>
            <a:pPr marL="12700" marR="425450">
              <a:lnSpc>
                <a:spcPct val="100000"/>
              </a:lnSpc>
            </a:pPr>
            <a:r>
              <a:rPr sz="2000" b="1">
                <a:latin typeface="Times New Roman"/>
                <a:cs typeface="Times New Roman"/>
              </a:rPr>
              <a:t>Overall</a:t>
            </a:r>
            <a:r>
              <a:rPr sz="2000">
                <a:latin typeface="Times New Roman"/>
                <a:cs typeface="Times New Roman"/>
              </a:rPr>
              <a:t>,</a:t>
            </a:r>
            <a:r>
              <a:rPr sz="2000" spc="-95">
                <a:latin typeface="Times New Roman"/>
                <a:cs typeface="Times New Roman"/>
              </a:rPr>
              <a:t> </a:t>
            </a:r>
            <a:r>
              <a:rPr sz="2000">
                <a:latin typeface="Times New Roman"/>
                <a:cs typeface="Times New Roman"/>
              </a:rPr>
              <a:t>the</a:t>
            </a:r>
            <a:r>
              <a:rPr sz="2000" spc="-40">
                <a:latin typeface="Times New Roman"/>
                <a:cs typeface="Times New Roman"/>
              </a:rPr>
              <a:t> </a:t>
            </a:r>
            <a:r>
              <a:rPr sz="2000">
                <a:latin typeface="Times New Roman"/>
                <a:cs typeface="Times New Roman"/>
              </a:rPr>
              <a:t>animations</a:t>
            </a:r>
            <a:r>
              <a:rPr sz="2000" spc="-20">
                <a:latin typeface="Times New Roman"/>
                <a:cs typeface="Times New Roman"/>
              </a:rPr>
              <a:t> </a:t>
            </a:r>
            <a:r>
              <a:rPr sz="2000">
                <a:latin typeface="Times New Roman"/>
                <a:cs typeface="Times New Roman"/>
              </a:rPr>
              <a:t>clearly</a:t>
            </a:r>
            <a:r>
              <a:rPr sz="2000" spc="-75">
                <a:latin typeface="Times New Roman"/>
                <a:cs typeface="Times New Roman"/>
              </a:rPr>
              <a:t> </a:t>
            </a:r>
            <a:r>
              <a:rPr sz="2000">
                <a:latin typeface="Times New Roman"/>
                <a:cs typeface="Times New Roman"/>
              </a:rPr>
              <a:t>demonstrate</a:t>
            </a:r>
            <a:r>
              <a:rPr sz="2000" spc="-30">
                <a:latin typeface="Times New Roman"/>
                <a:cs typeface="Times New Roman"/>
              </a:rPr>
              <a:t> </a:t>
            </a:r>
            <a:r>
              <a:rPr sz="2000">
                <a:latin typeface="Times New Roman"/>
                <a:cs typeface="Times New Roman"/>
              </a:rPr>
              <a:t>how</a:t>
            </a:r>
            <a:r>
              <a:rPr sz="2000" spc="-35">
                <a:latin typeface="Times New Roman"/>
                <a:cs typeface="Times New Roman"/>
              </a:rPr>
              <a:t> </a:t>
            </a:r>
            <a:r>
              <a:rPr sz="2000">
                <a:latin typeface="Times New Roman"/>
                <a:cs typeface="Times New Roman"/>
              </a:rPr>
              <a:t>drone</a:t>
            </a:r>
            <a:r>
              <a:rPr sz="2000" spc="-80">
                <a:latin typeface="Times New Roman"/>
                <a:cs typeface="Times New Roman"/>
              </a:rPr>
              <a:t> </a:t>
            </a:r>
            <a:r>
              <a:rPr sz="2000">
                <a:latin typeface="Times New Roman"/>
                <a:cs typeface="Times New Roman"/>
              </a:rPr>
              <a:t>technology</a:t>
            </a:r>
            <a:r>
              <a:rPr sz="2000" spc="-25">
                <a:latin typeface="Times New Roman"/>
                <a:cs typeface="Times New Roman"/>
              </a:rPr>
              <a:t> </a:t>
            </a:r>
            <a:r>
              <a:rPr sz="2000">
                <a:latin typeface="Times New Roman"/>
                <a:cs typeface="Times New Roman"/>
              </a:rPr>
              <a:t>can</a:t>
            </a:r>
            <a:r>
              <a:rPr sz="2000" spc="-70">
                <a:latin typeface="Times New Roman"/>
                <a:cs typeface="Times New Roman"/>
              </a:rPr>
              <a:t> </a:t>
            </a:r>
            <a:r>
              <a:rPr sz="2000" spc="-10">
                <a:latin typeface="Times New Roman"/>
                <a:cs typeface="Times New Roman"/>
              </a:rPr>
              <a:t>transform </a:t>
            </a:r>
            <a:r>
              <a:rPr sz="2000">
                <a:latin typeface="Times New Roman"/>
                <a:cs typeface="Times New Roman"/>
              </a:rPr>
              <a:t>multiple</a:t>
            </a:r>
            <a:r>
              <a:rPr sz="2000" spc="-45">
                <a:latin typeface="Times New Roman"/>
                <a:cs typeface="Times New Roman"/>
              </a:rPr>
              <a:t> </a:t>
            </a:r>
            <a:r>
              <a:rPr sz="2000">
                <a:latin typeface="Times New Roman"/>
                <a:cs typeface="Times New Roman"/>
              </a:rPr>
              <a:t>sectors</a:t>
            </a:r>
            <a:r>
              <a:rPr sz="2000" spc="-65">
                <a:latin typeface="Times New Roman"/>
                <a:cs typeface="Times New Roman"/>
              </a:rPr>
              <a:t> </a:t>
            </a:r>
            <a:r>
              <a:rPr sz="2000">
                <a:latin typeface="Times New Roman"/>
                <a:cs typeface="Times New Roman"/>
              </a:rPr>
              <a:t>by</a:t>
            </a:r>
            <a:r>
              <a:rPr sz="2000" spc="-75">
                <a:latin typeface="Times New Roman"/>
                <a:cs typeface="Times New Roman"/>
              </a:rPr>
              <a:t> </a:t>
            </a:r>
            <a:r>
              <a:rPr sz="2000">
                <a:latin typeface="Times New Roman"/>
                <a:cs typeface="Times New Roman"/>
              </a:rPr>
              <a:t>providing</a:t>
            </a:r>
            <a:r>
              <a:rPr sz="2000" spc="-70">
                <a:latin typeface="Times New Roman"/>
                <a:cs typeface="Times New Roman"/>
              </a:rPr>
              <a:t> </a:t>
            </a:r>
            <a:r>
              <a:rPr sz="2000">
                <a:latin typeface="Times New Roman"/>
                <a:cs typeface="Times New Roman"/>
              </a:rPr>
              <a:t>faster,</a:t>
            </a:r>
            <a:r>
              <a:rPr sz="2000" spc="-60">
                <a:latin typeface="Times New Roman"/>
                <a:cs typeface="Times New Roman"/>
              </a:rPr>
              <a:t> </a:t>
            </a:r>
            <a:r>
              <a:rPr sz="2000">
                <a:latin typeface="Times New Roman"/>
                <a:cs typeface="Times New Roman"/>
              </a:rPr>
              <a:t>efficient,</a:t>
            </a:r>
            <a:r>
              <a:rPr sz="2000" spc="-20">
                <a:latin typeface="Times New Roman"/>
                <a:cs typeface="Times New Roman"/>
              </a:rPr>
              <a:t> </a:t>
            </a:r>
            <a:r>
              <a:rPr sz="2000">
                <a:latin typeface="Times New Roman"/>
                <a:cs typeface="Times New Roman"/>
              </a:rPr>
              <a:t>and</a:t>
            </a:r>
            <a:r>
              <a:rPr sz="2000" spc="-55">
                <a:latin typeface="Times New Roman"/>
                <a:cs typeface="Times New Roman"/>
              </a:rPr>
              <a:t> </a:t>
            </a:r>
            <a:r>
              <a:rPr sz="2000">
                <a:latin typeface="Times New Roman"/>
                <a:cs typeface="Times New Roman"/>
              </a:rPr>
              <a:t>innovative</a:t>
            </a:r>
            <a:r>
              <a:rPr sz="2000" spc="-15">
                <a:latin typeface="Times New Roman"/>
                <a:cs typeface="Times New Roman"/>
              </a:rPr>
              <a:t> </a:t>
            </a:r>
            <a:r>
              <a:rPr sz="2000" spc="-10">
                <a:latin typeface="Times New Roman"/>
                <a:cs typeface="Times New Roman"/>
              </a:rPr>
              <a:t>solutions.</a:t>
            </a:r>
            <a:endParaRPr sz="2000">
              <a:latin typeface="Times New Roman"/>
              <a:cs typeface="Times New Roman"/>
            </a:endParaRPr>
          </a:p>
        </p:txBody>
      </p:sp>
      <p:sp>
        <p:nvSpPr>
          <p:cNvPr id="7" name="Rectangle 2">
            <a:extLst>
              <a:ext uri="{FF2B5EF4-FFF2-40B4-BE49-F238E27FC236}">
                <a16:creationId xmlns:a16="http://schemas.microsoft.com/office/drawing/2014/main" id="{50CD34EC-0B98-A239-377C-96E3BEA55BBF}"/>
              </a:ext>
            </a:extLst>
          </p:cNvPr>
          <p:cNvSpPr>
            <a:spLocks noChangeArrowheads="1"/>
          </p:cNvSpPr>
          <p:nvPr/>
        </p:nvSpPr>
        <p:spPr bwMode="auto">
          <a:xfrm>
            <a:off x="598564" y="1846077"/>
            <a:ext cx="8927263"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Honey Yield:</a:t>
            </a:r>
            <a:r>
              <a:rPr kumimoji="0" lang="en-US" altLang="en-US" sz="1800" b="0" i="0" u="none" strike="noStrike" cap="none" normalizeH="0" baseline="0">
                <a:ln>
                  <a:noFill/>
                </a:ln>
                <a:solidFill>
                  <a:schemeClr val="tx1"/>
                </a:solidFill>
                <a:effectLst/>
                <a:latin typeface="Arial" panose="020B0604020202020204" pitchFamily="34" charset="0"/>
              </a:rPr>
              <a:t> Drone harvested ~80–90% of honey compared to manual methods.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Time Efficiency:</a:t>
            </a:r>
            <a:r>
              <a:rPr kumimoji="0" lang="en-US" altLang="en-US" sz="1800" b="0" i="0" u="none" strike="noStrike" cap="none" normalizeH="0" baseline="0">
                <a:ln>
                  <a:noFill/>
                </a:ln>
                <a:solidFill>
                  <a:schemeClr val="tx1"/>
                </a:solidFill>
                <a:effectLst/>
                <a:latin typeface="Arial" panose="020B0604020202020204" pitchFamily="34" charset="0"/>
              </a:rPr>
              <a:t> Drone reduced harvesting time by 30–40% per hive.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Bee Disturbance:</a:t>
            </a:r>
            <a:r>
              <a:rPr kumimoji="0" lang="en-US" altLang="en-US" sz="1800" b="0" i="0" u="none" strike="noStrike" cap="none" normalizeH="0" baseline="0">
                <a:ln>
                  <a:noFill/>
                </a:ln>
                <a:solidFill>
                  <a:schemeClr val="tx1"/>
                </a:solidFill>
                <a:effectLst/>
                <a:latin typeface="Arial" panose="020B0604020202020204" pitchFamily="34" charset="0"/>
              </a:rPr>
              <a:t> Minimal disturbance observed; bees remained calm during extraction.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Battery Performance:</a:t>
            </a:r>
            <a:r>
              <a:rPr kumimoji="0" lang="en-US" altLang="en-US" sz="1800" b="0" i="0" u="none" strike="noStrike" cap="none" normalizeH="0" baseline="0">
                <a:ln>
                  <a:noFill/>
                </a:ln>
                <a:solidFill>
                  <a:schemeClr val="tx1"/>
                </a:solidFill>
                <a:effectLst/>
                <a:latin typeface="Arial" panose="020B0604020202020204" pitchFamily="34" charset="0"/>
              </a:rPr>
              <a:t> Each mission completed successfully within battery limits.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285"/>
              </a:lnSpc>
            </a:pPr>
            <a:r>
              <a:t>MKCE</a:t>
            </a:r>
            <a:r>
              <a:rPr spc="-10"/>
              <a:t> </a:t>
            </a:r>
            <a:r>
              <a:t>Presentation</a:t>
            </a:r>
            <a:r>
              <a:rPr spc="55"/>
              <a:t> </a:t>
            </a:r>
            <a:r>
              <a:t>Day</a:t>
            </a:r>
            <a:r>
              <a:rPr spc="-15"/>
              <a:t> </a:t>
            </a:r>
            <a:r>
              <a:rPr spc="-10"/>
              <a:t>-</a:t>
            </a:r>
            <a:r>
              <a:rPr spc="-50"/>
              <a:t>I</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285"/>
              </a:lnSpc>
            </a:pPr>
            <a:r>
              <a:rPr spc="-25"/>
              <a:t>8</a:t>
            </a:r>
          </a:p>
        </p:txBody>
      </p:sp>
      <p:sp>
        <p:nvSpPr>
          <p:cNvPr id="2" name="object 2"/>
          <p:cNvSpPr txBox="1">
            <a:spLocks noGrp="1"/>
          </p:cNvSpPr>
          <p:nvPr>
            <p:ph type="title"/>
          </p:nvPr>
        </p:nvSpPr>
        <p:spPr>
          <a:prstGeom prst="rect">
            <a:avLst/>
          </a:prstGeom>
        </p:spPr>
        <p:txBody>
          <a:bodyPr vert="horz" wrap="square" lIns="0" tIns="235457" rIns="0" bIns="0" rtlCol="0">
            <a:spAutoFit/>
          </a:bodyPr>
          <a:lstStyle/>
          <a:p>
            <a:pPr marL="1960880">
              <a:lnSpc>
                <a:spcPct val="100000"/>
              </a:lnSpc>
              <a:spcBef>
                <a:spcPts val="95"/>
              </a:spcBef>
            </a:pPr>
            <a:r>
              <a:rPr sz="3800" spc="70">
                <a:solidFill>
                  <a:srgbClr val="FF0000"/>
                </a:solidFill>
              </a:rPr>
              <a:t>CONCLUSIONS</a:t>
            </a:r>
            <a:endParaRPr sz="3800"/>
          </a:p>
        </p:txBody>
      </p:sp>
      <p:sp>
        <p:nvSpPr>
          <p:cNvPr id="3" name="object 3"/>
          <p:cNvSpPr txBox="1"/>
          <p:nvPr/>
        </p:nvSpPr>
        <p:spPr>
          <a:xfrm>
            <a:off x="1185988" y="1981200"/>
            <a:ext cx="7365365" cy="2658420"/>
          </a:xfrm>
          <a:prstGeom prst="rect">
            <a:avLst/>
          </a:prstGeom>
        </p:spPr>
        <p:txBody>
          <a:bodyPr vert="horz" wrap="square" lIns="0" tIns="11430" rIns="0" bIns="0" rtlCol="0">
            <a:spAutoFit/>
          </a:bodyPr>
          <a:lstStyle/>
          <a:p>
            <a:pPr marL="12700" marR="19685">
              <a:lnSpc>
                <a:spcPct val="100000"/>
              </a:lnSpc>
              <a:spcBef>
                <a:spcPts val="90"/>
              </a:spcBef>
            </a:pPr>
            <a:r>
              <a:rPr lang="en-US" sz="1900">
                <a:latin typeface="Times New Roman" panose="02020603050405020304" pitchFamily="18" charset="0"/>
                <a:cs typeface="Times New Roman" panose="02020603050405020304" pitchFamily="18" charset="0"/>
              </a:rPr>
              <a:t>Drone-assisted honey harvesting is a promising innovation that improves efficiency, reduces labor, and ensures safer operations compared to traditional methods. The system successfully extracts honey with minimal disturbance to the bees, maintaining colony health and productivity. Sensors and cameras allow accurate detection of honey-ready cells, though further calibration can enhance precision. Overall, this technology demonstrates the potential to modernize beekeeping, support sustainable apiculture, and increase honey production while minimizing human intervention</a:t>
            </a:r>
            <a:r>
              <a:rPr sz="2000" spc="-10">
                <a:latin typeface="Times New Roman"/>
                <a:cs typeface="Times New Roman"/>
              </a:rPr>
              <a:t>.</a:t>
            </a:r>
            <a:endParaRPr sz="2000">
              <a:latin typeface="Times New Roman"/>
              <a:cs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285"/>
              </a:lnSpc>
            </a:pPr>
            <a:r>
              <a:t>MKCE</a:t>
            </a:r>
            <a:r>
              <a:rPr spc="-10"/>
              <a:t> </a:t>
            </a:r>
            <a:r>
              <a:t>Presentation</a:t>
            </a:r>
            <a:r>
              <a:rPr spc="55"/>
              <a:t> </a:t>
            </a:r>
            <a:r>
              <a:t>Day</a:t>
            </a:r>
            <a:r>
              <a:rPr spc="-15"/>
              <a:t> </a:t>
            </a:r>
            <a:r>
              <a:rPr spc="-10"/>
              <a:t>-</a:t>
            </a:r>
            <a:r>
              <a:rPr spc="-50"/>
              <a:t>I</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285"/>
              </a:lnSpc>
            </a:pPr>
            <a:r>
              <a:rPr spc="-25"/>
              <a:t>9</a:t>
            </a:r>
          </a:p>
        </p:txBody>
      </p:sp>
      <p:sp>
        <p:nvSpPr>
          <p:cNvPr id="2" name="object 2"/>
          <p:cNvSpPr txBox="1">
            <a:spLocks noGrp="1"/>
          </p:cNvSpPr>
          <p:nvPr>
            <p:ph type="title"/>
          </p:nvPr>
        </p:nvSpPr>
        <p:spPr>
          <a:prstGeom prst="rect">
            <a:avLst/>
          </a:prstGeom>
        </p:spPr>
        <p:txBody>
          <a:bodyPr vert="horz" wrap="square" lIns="0" tIns="521004" rIns="0" bIns="0" rtlCol="0">
            <a:spAutoFit/>
          </a:bodyPr>
          <a:lstStyle/>
          <a:p>
            <a:pPr marL="1478915">
              <a:lnSpc>
                <a:spcPct val="100000"/>
              </a:lnSpc>
              <a:spcBef>
                <a:spcPts val="95"/>
              </a:spcBef>
            </a:pPr>
            <a:r>
              <a:rPr spc="60"/>
              <a:t>SCOPE</a:t>
            </a:r>
            <a:r>
              <a:rPr spc="165"/>
              <a:t> </a:t>
            </a:r>
            <a:r>
              <a:t>FOR</a:t>
            </a:r>
            <a:r>
              <a:rPr spc="110"/>
              <a:t> </a:t>
            </a:r>
            <a:r>
              <a:t>FUTURE</a:t>
            </a:r>
            <a:r>
              <a:rPr spc="90"/>
              <a:t> </a:t>
            </a:r>
            <a:r>
              <a:rPr spc="-20"/>
              <a:t>WORK</a:t>
            </a:r>
          </a:p>
        </p:txBody>
      </p:sp>
      <p:sp>
        <p:nvSpPr>
          <p:cNvPr id="3" name="object 3"/>
          <p:cNvSpPr txBox="1">
            <a:spLocks noGrp="1"/>
          </p:cNvSpPr>
          <p:nvPr>
            <p:ph type="body" idx="1"/>
          </p:nvPr>
        </p:nvSpPr>
        <p:spPr>
          <a:xfrm flipV="1">
            <a:off x="519201" y="4221481"/>
            <a:ext cx="8546809" cy="745588"/>
          </a:xfrm>
          <a:prstGeom prst="rect">
            <a:avLst/>
          </a:prstGeom>
        </p:spPr>
        <p:txBody>
          <a:bodyPr vert="horz" wrap="square" lIns="0" tIns="464057" rIns="0" bIns="0" rtlCol="0">
            <a:spAutoFit/>
          </a:bodyPr>
          <a:lstStyle/>
          <a:p>
            <a:pPr marL="59690" marR="5080">
              <a:lnSpc>
                <a:spcPct val="100000"/>
              </a:lnSpc>
              <a:spcBef>
                <a:spcPts val="100"/>
              </a:spcBef>
            </a:pPr>
            <a:r>
              <a:rPr spc="-10"/>
              <a:t>.</a:t>
            </a:r>
          </a:p>
        </p:txBody>
      </p:sp>
      <p:sp>
        <p:nvSpPr>
          <p:cNvPr id="6" name="Rectangle 1">
            <a:extLst>
              <a:ext uri="{FF2B5EF4-FFF2-40B4-BE49-F238E27FC236}">
                <a16:creationId xmlns:a16="http://schemas.microsoft.com/office/drawing/2014/main" id="{DFAAA1DD-9253-392B-4154-B87D4AD832EE}"/>
              </a:ext>
            </a:extLst>
          </p:cNvPr>
          <p:cNvSpPr>
            <a:spLocks noChangeArrowheads="1"/>
          </p:cNvSpPr>
          <p:nvPr/>
        </p:nvSpPr>
        <p:spPr bwMode="auto">
          <a:xfrm>
            <a:off x="204140" y="1564720"/>
            <a:ext cx="9554540" cy="41857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9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Improved Sensor Accuracy:</a:t>
            </a:r>
            <a:r>
              <a:rPr kumimoji="0" lang="en-US" altLang="en-US" sz="190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Enhance cameras and sensors for more precise detection of honey-ready cells and hive health parameters.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9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Autonomous Navigation:</a:t>
            </a:r>
            <a:r>
              <a:rPr kumimoji="0" lang="en-US" altLang="en-US" sz="190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Develop fully autonomous drones capable of navigating large apiaries without human intervention.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9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Scalability:</a:t>
            </a:r>
            <a:r>
              <a:rPr kumimoji="0" lang="en-US" altLang="en-US" sz="190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Adapt the system for large-scale commercial apiaries with multiple hives and continuous operation.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9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Bee Monitoring: </a:t>
            </a:r>
            <a:r>
              <a:rPr kumimoji="0" lang="en-US" altLang="en-US" sz="190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Integrate AI-based monitoring to track bee behavior, colony health, and environmental conditions in real-time.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9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Efficiency Optimization:</a:t>
            </a:r>
            <a:r>
              <a:rPr kumimoji="0" lang="en-US" altLang="en-US" sz="190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Improve energy management, battery life, and honey extraction mechanisms for higher efficiency.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9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Data Analytics: </a:t>
            </a:r>
            <a:r>
              <a:rPr kumimoji="0" lang="en-US" altLang="en-US" sz="190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Use collected data for predictive analysis of honey yield, seasonal trends, and hive management strategies.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9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Eco-Friendly Design:</a:t>
            </a:r>
            <a:r>
              <a:rPr kumimoji="0" lang="en-US" altLang="en-US" sz="190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Explore lightweight, low-noise, and environmentally friendly drones to minimize impact on bees and surrounding </a:t>
            </a:r>
            <a:r>
              <a:rPr kumimoji="0" lang="en-US" altLang="en-US" sz="180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ecosystems.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ftr" sz="quarter" idx="5"/>
          </p:nvPr>
        </p:nvSpPr>
        <p:spPr>
          <a:prstGeom prst="rect">
            <a:avLst/>
          </a:prstGeom>
        </p:spPr>
        <p:txBody>
          <a:bodyPr vert="horz" wrap="square" lIns="0" tIns="0" rIns="0" bIns="0" rtlCol="0">
            <a:spAutoFit/>
          </a:bodyPr>
          <a:lstStyle/>
          <a:p>
            <a:pPr marL="12700">
              <a:lnSpc>
                <a:spcPts val="1285"/>
              </a:lnSpc>
            </a:pPr>
            <a:r>
              <a:t>MKCE</a:t>
            </a:r>
            <a:r>
              <a:rPr spc="-10"/>
              <a:t> </a:t>
            </a:r>
            <a:r>
              <a:t>Presentation</a:t>
            </a:r>
            <a:r>
              <a:rPr spc="55"/>
              <a:t> </a:t>
            </a:r>
            <a:r>
              <a:t>Day</a:t>
            </a:r>
            <a:r>
              <a:rPr spc="-15"/>
              <a:t> </a:t>
            </a:r>
            <a:r>
              <a:rPr spc="-10"/>
              <a:t>-</a:t>
            </a:r>
            <a:r>
              <a:rPr spc="-50"/>
              <a:t>I</a:t>
            </a: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285"/>
              </a:lnSpc>
            </a:pPr>
            <a:r>
              <a:rPr spc="-25"/>
              <a:t>10</a:t>
            </a:r>
          </a:p>
        </p:txBody>
      </p:sp>
      <p:sp>
        <p:nvSpPr>
          <p:cNvPr id="2" name="object 2"/>
          <p:cNvSpPr txBox="1">
            <a:spLocks noGrp="1"/>
          </p:cNvSpPr>
          <p:nvPr>
            <p:ph type="title"/>
          </p:nvPr>
        </p:nvSpPr>
        <p:spPr>
          <a:xfrm>
            <a:off x="3134105" y="2582621"/>
            <a:ext cx="3549015" cy="742950"/>
          </a:xfrm>
          <a:prstGeom prst="rect">
            <a:avLst/>
          </a:prstGeom>
        </p:spPr>
        <p:txBody>
          <a:bodyPr vert="horz" wrap="square" lIns="0" tIns="13335" rIns="0" bIns="0" rtlCol="0">
            <a:spAutoFit/>
          </a:bodyPr>
          <a:lstStyle/>
          <a:p>
            <a:pPr marL="12700">
              <a:lnSpc>
                <a:spcPct val="100000"/>
              </a:lnSpc>
              <a:spcBef>
                <a:spcPts val="105"/>
              </a:spcBef>
            </a:pPr>
            <a:r>
              <a:rPr sz="4700" spc="-10">
                <a:solidFill>
                  <a:srgbClr val="FFBE00"/>
                </a:solidFill>
                <a:latin typeface="Arial"/>
                <a:cs typeface="Arial"/>
              </a:rPr>
              <a:t>THANK</a:t>
            </a:r>
            <a:r>
              <a:rPr sz="4700" spc="-305">
                <a:solidFill>
                  <a:srgbClr val="FFBE00"/>
                </a:solidFill>
                <a:latin typeface="Arial"/>
                <a:cs typeface="Arial"/>
              </a:rPr>
              <a:t> </a:t>
            </a:r>
            <a:r>
              <a:rPr sz="4700" spc="-25">
                <a:solidFill>
                  <a:srgbClr val="FFBE00"/>
                </a:solidFill>
                <a:latin typeface="Arial"/>
                <a:cs typeface="Arial"/>
              </a:rPr>
              <a:t>YOU</a:t>
            </a:r>
            <a:endParaRPr sz="4700">
              <a:latin typeface="Arial"/>
              <a:cs typeface="Aria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Custom</PresentationFormat>
  <Slides>14</Slides>
  <Notes>0</Notes>
  <HiddenSlides>0</HiddenSlide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Title: Drone Technology Of Honey Harvesting</vt:lpstr>
      <vt:lpstr>INTRODUCTION</vt:lpstr>
      <vt:lpstr>Literature background</vt:lpstr>
      <vt:lpstr>Literature background</vt:lpstr>
      <vt:lpstr>SCOPE AND OBJECTIVES</vt:lpstr>
      <vt:lpstr>EXPERIMENT WORK</vt:lpstr>
      <vt:lpstr>MATERIAL REQUIRED</vt:lpstr>
      <vt:lpstr>COMPLETED WORK</vt:lpstr>
      <vt:lpstr>PENDING WORK</vt:lpstr>
      <vt:lpstr>WORKING PHOTOGRAPH</vt:lpstr>
      <vt:lpstr>RESULT &amp; DISCUSSION</vt:lpstr>
      <vt:lpstr>CONCLUSIONS</vt:lpstr>
      <vt:lpstr>SCOPE FOR FUTURE WORK</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1</cp:revision>
  <dcterms:created xsi:type="dcterms:W3CDTF">2025-09-09T05:53:07Z</dcterms:created>
  <dcterms:modified xsi:type="dcterms:W3CDTF">2025-10-12T12:56:06Z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2025-09-08T00:00:00Z</vt:filetime>
  </property>
  <property fmtid="{D5CDD505-2E9C-101B-9397-08002B2CF9AE}" pid="3" name="Creator">
    <vt:lpwstr>Microsoft® PowerPoint® 2016</vt:lpwstr>
  </property>
  <property fmtid="{D5CDD505-2E9C-101B-9397-08002B2CF9AE}" pid="4" name="LastSaved">
    <vt:filetime>2025-09-09T00:00:00Z</vt:filetime>
  </property>
  <property fmtid="{D5CDD505-2E9C-101B-9397-08002B2CF9AE}" pid="5" name="Producer">
    <vt:lpwstr>www.ilovepdf.com</vt:lpwstr>
  </property>
</Properties>
</file>